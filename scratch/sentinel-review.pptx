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Muli Bold" charset="1" panose="00000800000000000000"/>
      <p:regular r:id="rId21"/>
    </p:embeddedFont>
    <p:embeddedFont>
      <p:font typeface="Araboto Bold" charset="1" panose="02000500000000000000"/>
      <p:regular r:id="rId22"/>
    </p:embeddedFont>
    <p:embeddedFont>
      <p:font typeface="Muli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7000" y="-1091788"/>
            <a:ext cx="10634000" cy="12470576"/>
          </a:xfrm>
          <a:custGeom>
            <a:avLst/>
            <a:gdLst/>
            <a:ahLst/>
            <a:cxnLst/>
            <a:rect r="r" b="b" t="t" l="l"/>
            <a:pathLst>
              <a:path h="12470576" w="10634000">
                <a:moveTo>
                  <a:pt x="0" y="0"/>
                </a:moveTo>
                <a:lnTo>
                  <a:pt x="10634000" y="0"/>
                </a:lnTo>
                <a:lnTo>
                  <a:pt x="10634000" y="12470576"/>
                </a:lnTo>
                <a:lnTo>
                  <a:pt x="0" y="12470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22201" y="6599144"/>
            <a:ext cx="1015921" cy="4542734"/>
          </a:xfrm>
          <a:custGeom>
            <a:avLst/>
            <a:gdLst/>
            <a:ahLst/>
            <a:cxnLst/>
            <a:rect r="r" b="b" t="t" l="l"/>
            <a:pathLst>
              <a:path h="4542734" w="1015921">
                <a:moveTo>
                  <a:pt x="0" y="0"/>
                </a:moveTo>
                <a:lnTo>
                  <a:pt x="1015921" y="0"/>
                </a:lnTo>
                <a:lnTo>
                  <a:pt x="1015921" y="4542734"/>
                </a:lnTo>
                <a:lnTo>
                  <a:pt x="0" y="454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3955" y="8870511"/>
            <a:ext cx="7315200" cy="2832977"/>
          </a:xfrm>
          <a:custGeom>
            <a:avLst/>
            <a:gdLst/>
            <a:ahLst/>
            <a:cxnLst/>
            <a:rect r="r" b="b" t="t" l="l"/>
            <a:pathLst>
              <a:path h="2832977" w="7315200">
                <a:moveTo>
                  <a:pt x="0" y="0"/>
                </a:moveTo>
                <a:lnTo>
                  <a:pt x="7315200" y="0"/>
                </a:lnTo>
                <a:lnTo>
                  <a:pt x="73152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1529" y="2354721"/>
            <a:ext cx="12084943" cy="489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3"/>
              </a:lnSpc>
            </a:pPr>
            <a:r>
              <a:rPr lang="en-US" b="true" sz="13498" spc="-823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SENTINEL</a:t>
            </a:r>
          </a:p>
          <a:p>
            <a:pPr algn="ctr">
              <a:lnSpc>
                <a:spcPts val="3749"/>
              </a:lnSpc>
            </a:pPr>
          </a:p>
          <a:p>
            <a:pPr algn="ctr">
              <a:lnSpc>
                <a:spcPts val="9125"/>
              </a:lnSpc>
            </a:pPr>
            <a:r>
              <a:rPr lang="en-US" b="true" sz="7300" spc="-445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BẢO MẬT WEB TỰ ĐỘNG THEO OWASP TOP 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9661" y="1567832"/>
            <a:ext cx="2828677" cy="602228"/>
            <a:chOff x="0" y="0"/>
            <a:chExt cx="429753" cy="91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9753" cy="91495"/>
            </a:xfrm>
            <a:custGeom>
              <a:avLst/>
              <a:gdLst/>
              <a:ahLst/>
              <a:cxnLst/>
              <a:rect r="r" b="b" t="t" l="l"/>
              <a:pathLst>
                <a:path h="91495" w="429753">
                  <a:moveTo>
                    <a:pt x="45747" y="0"/>
                  </a:moveTo>
                  <a:lnTo>
                    <a:pt x="384005" y="0"/>
                  </a:lnTo>
                  <a:cubicBezTo>
                    <a:pt x="409271" y="0"/>
                    <a:pt x="429753" y="20482"/>
                    <a:pt x="429753" y="45747"/>
                  </a:cubicBezTo>
                  <a:lnTo>
                    <a:pt x="429753" y="45747"/>
                  </a:lnTo>
                  <a:cubicBezTo>
                    <a:pt x="429753" y="57880"/>
                    <a:pt x="424933" y="69516"/>
                    <a:pt x="416354" y="78096"/>
                  </a:cubicBezTo>
                  <a:cubicBezTo>
                    <a:pt x="407774" y="86675"/>
                    <a:pt x="396138" y="91495"/>
                    <a:pt x="384005" y="91495"/>
                  </a:cubicBezTo>
                  <a:lnTo>
                    <a:pt x="45747" y="91495"/>
                  </a:lnTo>
                  <a:cubicBezTo>
                    <a:pt x="33614" y="91495"/>
                    <a:pt x="21978" y="86675"/>
                    <a:pt x="13399" y="78096"/>
                  </a:cubicBezTo>
                  <a:cubicBezTo>
                    <a:pt x="4820" y="69516"/>
                    <a:pt x="0" y="57880"/>
                    <a:pt x="0" y="45747"/>
                  </a:cubicBezTo>
                  <a:lnTo>
                    <a:pt x="0" y="45747"/>
                  </a:lnTo>
                  <a:cubicBezTo>
                    <a:pt x="0" y="33614"/>
                    <a:pt x="4820" y="21978"/>
                    <a:pt x="13399" y="13399"/>
                  </a:cubicBezTo>
                  <a:cubicBezTo>
                    <a:pt x="21978" y="4820"/>
                    <a:pt x="33614" y="0"/>
                    <a:pt x="45747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9753" cy="139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980956" y="1643521"/>
            <a:ext cx="232608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107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AN NINH MẠNG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0396" y="209715"/>
            <a:ext cx="3298604" cy="303224"/>
            <a:chOff x="0" y="0"/>
            <a:chExt cx="868768" cy="798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410924" y="7829629"/>
            <a:ext cx="546615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GVHD: TH.S Đinh Phương Nam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10396" y="660363"/>
            <a:ext cx="3298604" cy="303224"/>
            <a:chOff x="0" y="0"/>
            <a:chExt cx="868768" cy="798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0396" y="1113042"/>
            <a:ext cx="3298604" cy="303224"/>
            <a:chOff x="0" y="0"/>
            <a:chExt cx="868768" cy="798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10396" y="1565721"/>
            <a:ext cx="3298604" cy="303224"/>
            <a:chOff x="0" y="0"/>
            <a:chExt cx="868768" cy="798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63103" y="16369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Nguyễn An Khang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3103" y="611393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Phạm Dương Đình Huy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3103" y="106828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Lê Phương Nam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3103" y="151278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Bùi Trọng Thức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163798" y="520740"/>
            <a:ext cx="4280265" cy="347394"/>
            <a:chOff x="0" y="0"/>
            <a:chExt cx="1127313" cy="91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7313" cy="91495"/>
            </a:xfrm>
            <a:custGeom>
              <a:avLst/>
              <a:gdLst/>
              <a:ahLst/>
              <a:cxnLst/>
              <a:rect r="r" b="b" t="t" l="l"/>
              <a:pathLst>
                <a:path h="91495" w="1127313">
                  <a:moveTo>
                    <a:pt x="45747" y="0"/>
                  </a:moveTo>
                  <a:lnTo>
                    <a:pt x="1081565" y="0"/>
                  </a:lnTo>
                  <a:cubicBezTo>
                    <a:pt x="1093698" y="0"/>
                    <a:pt x="1105334" y="4820"/>
                    <a:pt x="1113914" y="13399"/>
                  </a:cubicBezTo>
                  <a:cubicBezTo>
                    <a:pt x="1122493" y="21978"/>
                    <a:pt x="1127313" y="33614"/>
                    <a:pt x="1127313" y="45747"/>
                  </a:cubicBezTo>
                  <a:lnTo>
                    <a:pt x="1127313" y="45747"/>
                  </a:lnTo>
                  <a:cubicBezTo>
                    <a:pt x="1127313" y="57880"/>
                    <a:pt x="1122493" y="69516"/>
                    <a:pt x="1113914" y="78096"/>
                  </a:cubicBezTo>
                  <a:cubicBezTo>
                    <a:pt x="1105334" y="86675"/>
                    <a:pt x="1093698" y="91495"/>
                    <a:pt x="1081565" y="91495"/>
                  </a:cubicBezTo>
                  <a:lnTo>
                    <a:pt x="45747" y="91495"/>
                  </a:lnTo>
                  <a:cubicBezTo>
                    <a:pt x="33614" y="91495"/>
                    <a:pt x="21978" y="86675"/>
                    <a:pt x="13399" y="78096"/>
                  </a:cubicBezTo>
                  <a:cubicBezTo>
                    <a:pt x="4820" y="69516"/>
                    <a:pt x="0" y="57880"/>
                    <a:pt x="0" y="45747"/>
                  </a:cubicBezTo>
                  <a:lnTo>
                    <a:pt x="0" y="45747"/>
                  </a:lnTo>
                  <a:cubicBezTo>
                    <a:pt x="0" y="33614"/>
                    <a:pt x="4820" y="21978"/>
                    <a:pt x="13399" y="13399"/>
                  </a:cubicBezTo>
                  <a:cubicBezTo>
                    <a:pt x="21978" y="4820"/>
                    <a:pt x="33614" y="0"/>
                    <a:pt x="45747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127313" cy="139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356848" y="553343"/>
            <a:ext cx="1182410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640" spc="-70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Đồ Án Cơ Sở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712725" y="660091"/>
            <a:ext cx="68692" cy="68692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821949" y="553343"/>
            <a:ext cx="1182410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b="true" sz="1640" spc="-7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Nhóm 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182275" y="553343"/>
            <a:ext cx="1182410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b="true" sz="1640" spc="-7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2026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6113583" y="659018"/>
            <a:ext cx="68692" cy="6869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430005">
            <a:off x="14994974" y="-3468296"/>
            <a:ext cx="5915021" cy="6936592"/>
          </a:xfrm>
          <a:custGeom>
            <a:avLst/>
            <a:gdLst/>
            <a:ahLst/>
            <a:cxnLst/>
            <a:rect r="r" b="b" t="t" l="l"/>
            <a:pathLst>
              <a:path h="6936592" w="5915021">
                <a:moveTo>
                  <a:pt x="0" y="0"/>
                </a:moveTo>
                <a:lnTo>
                  <a:pt x="5915021" y="0"/>
                </a:lnTo>
                <a:lnTo>
                  <a:pt x="5915021" y="6936592"/>
                </a:lnTo>
                <a:lnTo>
                  <a:pt x="0" y="6936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09569" y="-658083"/>
            <a:ext cx="1352519" cy="1352519"/>
          </a:xfrm>
          <a:custGeom>
            <a:avLst/>
            <a:gdLst/>
            <a:ahLst/>
            <a:cxnLst/>
            <a:rect r="r" b="b" t="t" l="l"/>
            <a:pathLst>
              <a:path h="1352519" w="1352519">
                <a:moveTo>
                  <a:pt x="0" y="0"/>
                </a:moveTo>
                <a:lnTo>
                  <a:pt x="1352519" y="0"/>
                </a:lnTo>
                <a:lnTo>
                  <a:pt x="1352519" y="1352520"/>
                </a:lnTo>
                <a:lnTo>
                  <a:pt x="0" y="1352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32215"/>
            <a:ext cx="5870159" cy="90732"/>
            <a:chOff x="0" y="0"/>
            <a:chExt cx="1546050" cy="238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6050" cy="23897"/>
            </a:xfrm>
            <a:custGeom>
              <a:avLst/>
              <a:gdLst/>
              <a:ahLst/>
              <a:cxnLst/>
              <a:rect r="r" b="b" t="t" l="l"/>
              <a:pathLst>
                <a:path h="23897" w="1546050">
                  <a:moveTo>
                    <a:pt x="11948" y="0"/>
                  </a:moveTo>
                  <a:lnTo>
                    <a:pt x="1534102" y="0"/>
                  </a:lnTo>
                  <a:cubicBezTo>
                    <a:pt x="1540701" y="0"/>
                    <a:pt x="1546050" y="5349"/>
                    <a:pt x="1546050" y="11948"/>
                  </a:cubicBezTo>
                  <a:lnTo>
                    <a:pt x="1546050" y="11948"/>
                  </a:lnTo>
                  <a:cubicBezTo>
                    <a:pt x="1546050" y="15117"/>
                    <a:pt x="1544791" y="18156"/>
                    <a:pt x="1542551" y="20397"/>
                  </a:cubicBezTo>
                  <a:cubicBezTo>
                    <a:pt x="1540310" y="22638"/>
                    <a:pt x="1537271" y="23897"/>
                    <a:pt x="1534102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46050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93591" y="816480"/>
            <a:ext cx="385966" cy="385966"/>
          </a:xfrm>
          <a:custGeom>
            <a:avLst/>
            <a:gdLst/>
            <a:ahLst/>
            <a:cxnLst/>
            <a:rect r="r" b="b" t="t" l="l"/>
            <a:pathLst>
              <a:path h="385966" w="385966">
                <a:moveTo>
                  <a:pt x="0" y="0"/>
                </a:moveTo>
                <a:lnTo>
                  <a:pt x="385966" y="0"/>
                </a:lnTo>
                <a:lnTo>
                  <a:pt x="385966" y="385966"/>
                </a:lnTo>
                <a:lnTo>
                  <a:pt x="0" y="38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7228521"/>
            <a:ext cx="4616291" cy="90732"/>
            <a:chOff x="0" y="0"/>
            <a:chExt cx="1215813" cy="238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5813" cy="23897"/>
            </a:xfrm>
            <a:custGeom>
              <a:avLst/>
              <a:gdLst/>
              <a:ahLst/>
              <a:cxnLst/>
              <a:rect r="r" b="b" t="t" l="l"/>
              <a:pathLst>
                <a:path h="23897" w="1215813">
                  <a:moveTo>
                    <a:pt x="11948" y="0"/>
                  </a:moveTo>
                  <a:lnTo>
                    <a:pt x="1203865" y="0"/>
                  </a:lnTo>
                  <a:cubicBezTo>
                    <a:pt x="1210464" y="0"/>
                    <a:pt x="1215813" y="5349"/>
                    <a:pt x="1215813" y="11948"/>
                  </a:cubicBezTo>
                  <a:lnTo>
                    <a:pt x="1215813" y="11948"/>
                  </a:lnTo>
                  <a:cubicBezTo>
                    <a:pt x="1215813" y="15117"/>
                    <a:pt x="1214554" y="18156"/>
                    <a:pt x="1212314" y="20397"/>
                  </a:cubicBezTo>
                  <a:cubicBezTo>
                    <a:pt x="1210073" y="22638"/>
                    <a:pt x="1207034" y="23897"/>
                    <a:pt x="1203865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15813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86450" y="1929851"/>
            <a:ext cx="3301848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Giải pháp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09108" y="3030941"/>
            <a:ext cx="3279190" cy="90732"/>
            <a:chOff x="0" y="0"/>
            <a:chExt cx="863655" cy="238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55" cy="23897"/>
            </a:xfrm>
            <a:custGeom>
              <a:avLst/>
              <a:gdLst/>
              <a:ahLst/>
              <a:cxnLst/>
              <a:rect r="r" b="b" t="t" l="l"/>
              <a:pathLst>
                <a:path h="23897" w="863655">
                  <a:moveTo>
                    <a:pt x="11948" y="0"/>
                  </a:moveTo>
                  <a:lnTo>
                    <a:pt x="851707" y="0"/>
                  </a:lnTo>
                  <a:cubicBezTo>
                    <a:pt x="854876" y="0"/>
                    <a:pt x="857915" y="1259"/>
                    <a:pt x="860155" y="3500"/>
                  </a:cubicBezTo>
                  <a:cubicBezTo>
                    <a:pt x="862396" y="5740"/>
                    <a:pt x="863655" y="8779"/>
                    <a:pt x="863655" y="11948"/>
                  </a:cubicBezTo>
                  <a:lnTo>
                    <a:pt x="863655" y="11948"/>
                  </a:lnTo>
                  <a:cubicBezTo>
                    <a:pt x="863655" y="18547"/>
                    <a:pt x="858306" y="23897"/>
                    <a:pt x="851707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63655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963793" y="3495516"/>
            <a:ext cx="6199174" cy="3434386"/>
          </a:xfrm>
          <a:custGeom>
            <a:avLst/>
            <a:gdLst/>
            <a:ahLst/>
            <a:cxnLst/>
            <a:rect r="r" b="b" t="t" l="l"/>
            <a:pathLst>
              <a:path h="3434386" w="6199174">
                <a:moveTo>
                  <a:pt x="0" y="0"/>
                </a:moveTo>
                <a:lnTo>
                  <a:pt x="6199174" y="0"/>
                </a:lnTo>
                <a:lnTo>
                  <a:pt x="6199174" y="3434386"/>
                </a:lnTo>
                <a:lnTo>
                  <a:pt x="0" y="3434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602372"/>
            <a:ext cx="5870159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Lý do chọn đề tài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091886"/>
            <a:ext cx="8359351" cy="357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Ứng dụng web ngày càng phổ biến và xử lý nhiều dữ liệu quan trọng.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Trong phát triển phần mềm, bảo mật thường dễ bị bỏ sót khi nhóm tập trung vào chức năng, giao diện và tiến độ.</a:t>
            </a:r>
          </a:p>
          <a:p>
            <a:pPr algn="just">
              <a:lnSpc>
                <a:spcPts val="2100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Các rủi ro như cấu hình sai, thiếu security headers, dependency cũ, lộ secret hoặc kiểm soát truy cập yếu dễ xuất hiện.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585953"/>
            <a:ext cx="8359351" cy="199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Kiểm tra bảo mật thủ công tốn thời gian, cần kinh nghiệm và kiến thức chuyên sâu.</a:t>
            </a:r>
          </a:p>
          <a:p>
            <a:pPr algn="just" marL="0" indent="0" lvl="0">
              <a:lnSpc>
                <a:spcPts val="21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Sinh viên hoặc nhóm phát triển nhỏ cần công cụ hỗ trợ rà soát rủi ro bảo mật ban đầu.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098678"/>
            <a:ext cx="4616291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b="true" sz="59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Vấn đề đặt 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86450" y="7181661"/>
            <a:ext cx="6176517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SENTINEL</a:t>
            </a:r>
            <a:r>
              <a:rPr lang="en-US" sz="2000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- công cụ hỗ trợ r</a:t>
            </a:r>
            <a:r>
              <a:rPr lang="en-US" sz="2000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à soát bảo mật web theo OWASP Top 10, giúp phát hiện rủi ro và gợi ý hướng khắc phục..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5733391">
            <a:off x="14945804" y="7060468"/>
            <a:ext cx="6684391" cy="7838839"/>
          </a:xfrm>
          <a:custGeom>
            <a:avLst/>
            <a:gdLst/>
            <a:ahLst/>
            <a:cxnLst/>
            <a:rect r="r" b="b" t="t" l="l"/>
            <a:pathLst>
              <a:path h="7838839" w="6684391">
                <a:moveTo>
                  <a:pt x="0" y="0"/>
                </a:moveTo>
                <a:lnTo>
                  <a:pt x="6684392" y="0"/>
                </a:lnTo>
                <a:lnTo>
                  <a:pt x="6684392" y="7838838"/>
                </a:lnTo>
                <a:lnTo>
                  <a:pt x="0" y="7838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8070" y="8911748"/>
            <a:ext cx="14150709" cy="574393"/>
            <a:chOff x="0" y="0"/>
            <a:chExt cx="2149876" cy="872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9876" cy="87266"/>
            </a:xfrm>
            <a:custGeom>
              <a:avLst/>
              <a:gdLst/>
              <a:ahLst/>
              <a:cxnLst/>
              <a:rect r="r" b="b" t="t" l="l"/>
              <a:pathLst>
                <a:path h="87266" w="2149876">
                  <a:moveTo>
                    <a:pt x="27902" y="0"/>
                  </a:moveTo>
                  <a:lnTo>
                    <a:pt x="2121973" y="0"/>
                  </a:lnTo>
                  <a:cubicBezTo>
                    <a:pt x="2129374" y="0"/>
                    <a:pt x="2136471" y="2940"/>
                    <a:pt x="2141703" y="8172"/>
                  </a:cubicBezTo>
                  <a:cubicBezTo>
                    <a:pt x="2146936" y="13405"/>
                    <a:pt x="2149876" y="20502"/>
                    <a:pt x="2149876" y="27902"/>
                  </a:cubicBezTo>
                  <a:lnTo>
                    <a:pt x="2149876" y="59364"/>
                  </a:lnTo>
                  <a:cubicBezTo>
                    <a:pt x="2149876" y="74774"/>
                    <a:pt x="2137383" y="87266"/>
                    <a:pt x="2121973" y="87266"/>
                  </a:cubicBezTo>
                  <a:lnTo>
                    <a:pt x="27902" y="87266"/>
                  </a:lnTo>
                  <a:cubicBezTo>
                    <a:pt x="12492" y="87266"/>
                    <a:pt x="0" y="74774"/>
                    <a:pt x="0" y="59364"/>
                  </a:cubicBezTo>
                  <a:lnTo>
                    <a:pt x="0" y="27902"/>
                  </a:lnTo>
                  <a:cubicBezTo>
                    <a:pt x="0" y="12492"/>
                    <a:pt x="12492" y="0"/>
                    <a:pt x="27902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49876" cy="134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934577">
            <a:off x="-2855783" y="5627879"/>
            <a:ext cx="6191518" cy="7260842"/>
          </a:xfrm>
          <a:custGeom>
            <a:avLst/>
            <a:gdLst/>
            <a:ahLst/>
            <a:cxnLst/>
            <a:rect r="r" b="b" t="t" l="l"/>
            <a:pathLst>
              <a:path h="7260842" w="6191518">
                <a:moveTo>
                  <a:pt x="0" y="0"/>
                </a:moveTo>
                <a:lnTo>
                  <a:pt x="6191518" y="0"/>
                </a:lnTo>
                <a:lnTo>
                  <a:pt x="6191518" y="7260842"/>
                </a:lnTo>
                <a:lnTo>
                  <a:pt x="0" y="7260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936445" y="369887"/>
            <a:ext cx="1241511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 Mục tiêu và phạm vi dự 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2869" y="3283427"/>
            <a:ext cx="6208031" cy="462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Xây dựng công cụ hỗ trợ rà soát bảo mật web tự động.</a:t>
            </a:r>
          </a:p>
          <a:p>
            <a:pPr algn="just">
              <a:lnSpc>
                <a:spcPts val="2100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Phát hiện sớm các rủi ro phổ biến theo OWASP Top 10.</a:t>
            </a:r>
          </a:p>
          <a:p>
            <a:pPr algn="just">
              <a:lnSpc>
                <a:spcPts val="2100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Chuẩn hóa findings theo mức độ, bằng chứng và nhóm OWASP.</a:t>
            </a:r>
          </a:p>
          <a:p>
            <a:pPr algn="just">
              <a:lnSpc>
                <a:spcPts val="2100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Gợi ý hướng khắc phục và hỗ trợ xuất báo cáo.</a:t>
            </a:r>
          </a:p>
          <a:p>
            <a:pPr algn="just">
              <a:lnSpc>
                <a:spcPts val="271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946240" y="2114073"/>
            <a:ext cx="250128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Mục tiêu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08686" y="3191732"/>
            <a:ext cx="8115300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URL Scan: kiểm tra website/endpoint đang chạy.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Project Scan: phân tích mã nguồn, cấu hình và dependency.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Findings Dashboard: hiển thị mức độ, vị trí, bằng chứng.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Checklist: tạo danh sách việc cần xử lý từ findings.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Report: xuất kết quả dưới dạng HTML/JSON.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AI Assistant: hỗ trợ giải thích findings và OWASP.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26460" y="2114073"/>
            <a:ext cx="467975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Phạm </a:t>
            </a:r>
            <a:r>
              <a:rPr lang="en-US" b="true" sz="39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vi</a:t>
            </a:r>
            <a:r>
              <a:rPr lang="en-US" b="true" sz="39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chức năng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16774341" y="-981911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1" y="0"/>
                </a:lnTo>
                <a:lnTo>
                  <a:pt x="899291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614368" y="-981911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1" y="0"/>
                </a:lnTo>
                <a:lnTo>
                  <a:pt x="899291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49348" y="8973520"/>
            <a:ext cx="1338930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Giới hạn: SENTINEL hỗ trợ rà soát ban đầu, không thay thế pentest thủ công chuyên sâu.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8751600">
            <a:off x="14670294" y="-3442665"/>
            <a:ext cx="6191518" cy="7260842"/>
          </a:xfrm>
          <a:custGeom>
            <a:avLst/>
            <a:gdLst/>
            <a:ahLst/>
            <a:cxnLst/>
            <a:rect r="r" b="b" t="t" l="l"/>
            <a:pathLst>
              <a:path h="7260842" w="6191518">
                <a:moveTo>
                  <a:pt x="0" y="0"/>
                </a:moveTo>
                <a:lnTo>
                  <a:pt x="6191518" y="0"/>
                </a:lnTo>
                <a:lnTo>
                  <a:pt x="6191518" y="7260841"/>
                </a:lnTo>
                <a:lnTo>
                  <a:pt x="0" y="7260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46706" y="859968"/>
            <a:ext cx="559458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Cơ sở lý thuyết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8220" y="3807047"/>
            <a:ext cx="576229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Bộ tiêu chuẩn phân loại các rủi ro bảo mật web phổ biến, làm cơ sở để SENTINEL ánh xạ và đánh giá findings.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6517" y="2789429"/>
            <a:ext cx="3389595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OWASP Top 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37488" y="3807047"/>
            <a:ext cx="576229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Kiểm thử ứng dụng đang chạy từ bên ngoài,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tập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tr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u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n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g vào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URL, header, cookie, form, endpoint và phản hồi lỗi.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2877" y="2789429"/>
            <a:ext cx="137151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DAST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8220" y="6990281"/>
            <a:ext cx="576229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Phân tích mã nguồn, cấu hình và logic xử lý để phát hiện secret, logging nhạy cảm và pattern code rủi ro.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70670" y="6020022"/>
            <a:ext cx="250128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SAST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37488" y="6990281"/>
            <a:ext cx="576229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Phân tích dependency và th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ư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việ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n bên thứ ba để nhận diện thư viện cũ hoặc package có rủi ro bảo mật.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67990" y="6020022"/>
            <a:ext cx="2501289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SCA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872979" y="8870511"/>
            <a:ext cx="7315200" cy="2832977"/>
          </a:xfrm>
          <a:custGeom>
            <a:avLst/>
            <a:gdLst/>
            <a:ahLst/>
            <a:cxnLst/>
            <a:rect r="r" b="b" t="t" l="l"/>
            <a:pathLst>
              <a:path h="2832977" w="7315200">
                <a:moveTo>
                  <a:pt x="0" y="0"/>
                </a:moveTo>
                <a:lnTo>
                  <a:pt x="7315200" y="0"/>
                </a:lnTo>
                <a:lnTo>
                  <a:pt x="73152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-1219619" y="-1141537"/>
            <a:ext cx="6615678" cy="2562072"/>
          </a:xfrm>
          <a:custGeom>
            <a:avLst/>
            <a:gdLst/>
            <a:ahLst/>
            <a:cxnLst/>
            <a:rect r="r" b="b" t="t" l="l"/>
            <a:pathLst>
              <a:path h="2562072" w="6615678">
                <a:moveTo>
                  <a:pt x="0" y="0"/>
                </a:moveTo>
                <a:lnTo>
                  <a:pt x="6615678" y="0"/>
                </a:lnTo>
                <a:lnTo>
                  <a:pt x="6615678" y="2562072"/>
                </a:lnTo>
                <a:lnTo>
                  <a:pt x="0" y="2562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346706" y="2053768"/>
            <a:ext cx="5594588" cy="90732"/>
            <a:chOff x="0" y="0"/>
            <a:chExt cx="1473472" cy="23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3472" cy="23897"/>
            </a:xfrm>
            <a:custGeom>
              <a:avLst/>
              <a:gdLst/>
              <a:ahLst/>
              <a:cxnLst/>
              <a:rect r="r" b="b" t="t" l="l"/>
              <a:pathLst>
                <a:path h="23897" w="1473472">
                  <a:moveTo>
                    <a:pt x="11948" y="0"/>
                  </a:moveTo>
                  <a:lnTo>
                    <a:pt x="1461523" y="0"/>
                  </a:lnTo>
                  <a:cubicBezTo>
                    <a:pt x="1468122" y="0"/>
                    <a:pt x="1473472" y="5349"/>
                    <a:pt x="1473472" y="11948"/>
                  </a:cubicBezTo>
                  <a:lnTo>
                    <a:pt x="1473472" y="11948"/>
                  </a:lnTo>
                  <a:cubicBezTo>
                    <a:pt x="1473472" y="15117"/>
                    <a:pt x="1472213" y="18156"/>
                    <a:pt x="1469972" y="20397"/>
                  </a:cubicBezTo>
                  <a:cubicBezTo>
                    <a:pt x="1467731" y="22638"/>
                    <a:pt x="1464692" y="23897"/>
                    <a:pt x="1461523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73472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32877" y="3376805"/>
            <a:ext cx="1371514" cy="90732"/>
            <a:chOff x="0" y="0"/>
            <a:chExt cx="361222" cy="238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222" cy="23897"/>
            </a:xfrm>
            <a:custGeom>
              <a:avLst/>
              <a:gdLst/>
              <a:ahLst/>
              <a:cxnLst/>
              <a:rect r="r" b="b" t="t" l="l"/>
              <a:pathLst>
                <a:path h="23897" w="361222">
                  <a:moveTo>
                    <a:pt x="11948" y="0"/>
                  </a:moveTo>
                  <a:lnTo>
                    <a:pt x="349274" y="0"/>
                  </a:lnTo>
                  <a:cubicBezTo>
                    <a:pt x="352442" y="0"/>
                    <a:pt x="355482" y="1259"/>
                    <a:pt x="357722" y="3500"/>
                  </a:cubicBezTo>
                  <a:cubicBezTo>
                    <a:pt x="359963" y="5740"/>
                    <a:pt x="361222" y="8779"/>
                    <a:pt x="361222" y="11948"/>
                  </a:cubicBezTo>
                  <a:lnTo>
                    <a:pt x="361222" y="11948"/>
                  </a:lnTo>
                  <a:cubicBezTo>
                    <a:pt x="361222" y="18547"/>
                    <a:pt x="355872" y="23897"/>
                    <a:pt x="349274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61222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05617" y="6607397"/>
            <a:ext cx="1226034" cy="90732"/>
            <a:chOff x="0" y="0"/>
            <a:chExt cx="322906" cy="238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2906" cy="23897"/>
            </a:xfrm>
            <a:custGeom>
              <a:avLst/>
              <a:gdLst/>
              <a:ahLst/>
              <a:cxnLst/>
              <a:rect r="r" b="b" t="t" l="l"/>
              <a:pathLst>
                <a:path h="23897" w="322906">
                  <a:moveTo>
                    <a:pt x="11948" y="0"/>
                  </a:moveTo>
                  <a:lnTo>
                    <a:pt x="310958" y="0"/>
                  </a:lnTo>
                  <a:cubicBezTo>
                    <a:pt x="317557" y="0"/>
                    <a:pt x="322906" y="5349"/>
                    <a:pt x="322906" y="11948"/>
                  </a:cubicBezTo>
                  <a:lnTo>
                    <a:pt x="322906" y="11948"/>
                  </a:lnTo>
                  <a:cubicBezTo>
                    <a:pt x="322906" y="15117"/>
                    <a:pt x="321647" y="18156"/>
                    <a:pt x="319407" y="20397"/>
                  </a:cubicBezTo>
                  <a:cubicBezTo>
                    <a:pt x="317166" y="22638"/>
                    <a:pt x="314127" y="23897"/>
                    <a:pt x="310958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22906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174658" y="6607397"/>
            <a:ext cx="1293314" cy="90732"/>
            <a:chOff x="0" y="0"/>
            <a:chExt cx="340626" cy="238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626" cy="23897"/>
            </a:xfrm>
            <a:custGeom>
              <a:avLst/>
              <a:gdLst/>
              <a:ahLst/>
              <a:cxnLst/>
              <a:rect r="r" b="b" t="t" l="l"/>
              <a:pathLst>
                <a:path h="23897" w="340626">
                  <a:moveTo>
                    <a:pt x="11948" y="0"/>
                  </a:moveTo>
                  <a:lnTo>
                    <a:pt x="328678" y="0"/>
                  </a:lnTo>
                  <a:cubicBezTo>
                    <a:pt x="335277" y="0"/>
                    <a:pt x="340626" y="5349"/>
                    <a:pt x="340626" y="11948"/>
                  </a:cubicBezTo>
                  <a:lnTo>
                    <a:pt x="340626" y="11948"/>
                  </a:lnTo>
                  <a:cubicBezTo>
                    <a:pt x="340626" y="15117"/>
                    <a:pt x="339367" y="18156"/>
                    <a:pt x="337126" y="20397"/>
                  </a:cubicBezTo>
                  <a:cubicBezTo>
                    <a:pt x="334886" y="22638"/>
                    <a:pt x="331847" y="23897"/>
                    <a:pt x="328678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40626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126517" y="3376805"/>
            <a:ext cx="3389595" cy="90732"/>
            <a:chOff x="0" y="0"/>
            <a:chExt cx="892733" cy="238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2733" cy="23897"/>
            </a:xfrm>
            <a:custGeom>
              <a:avLst/>
              <a:gdLst/>
              <a:ahLst/>
              <a:cxnLst/>
              <a:rect r="r" b="b" t="t" l="l"/>
              <a:pathLst>
                <a:path h="23897" w="892733">
                  <a:moveTo>
                    <a:pt x="11948" y="0"/>
                  </a:moveTo>
                  <a:lnTo>
                    <a:pt x="880784" y="0"/>
                  </a:lnTo>
                  <a:cubicBezTo>
                    <a:pt x="887383" y="0"/>
                    <a:pt x="892733" y="5349"/>
                    <a:pt x="892733" y="11948"/>
                  </a:cubicBezTo>
                  <a:lnTo>
                    <a:pt x="892733" y="11948"/>
                  </a:lnTo>
                  <a:cubicBezTo>
                    <a:pt x="892733" y="18547"/>
                    <a:pt x="887383" y="23897"/>
                    <a:pt x="880784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92733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3430005">
            <a:off x="14878917" y="-3622082"/>
            <a:ext cx="5915021" cy="6936592"/>
          </a:xfrm>
          <a:custGeom>
            <a:avLst/>
            <a:gdLst/>
            <a:ahLst/>
            <a:cxnLst/>
            <a:rect r="r" b="b" t="t" l="l"/>
            <a:pathLst>
              <a:path h="6936592" w="5915021">
                <a:moveTo>
                  <a:pt x="0" y="0"/>
                </a:moveTo>
                <a:lnTo>
                  <a:pt x="5915021" y="0"/>
                </a:lnTo>
                <a:lnTo>
                  <a:pt x="5915021" y="6936592"/>
                </a:lnTo>
                <a:lnTo>
                  <a:pt x="0" y="6936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8232687">
            <a:off x="-3309263" y="6818704"/>
            <a:ext cx="5915021" cy="6936592"/>
          </a:xfrm>
          <a:custGeom>
            <a:avLst/>
            <a:gdLst/>
            <a:ahLst/>
            <a:cxnLst/>
            <a:rect r="r" b="b" t="t" l="l"/>
            <a:pathLst>
              <a:path h="6936592" w="5915021">
                <a:moveTo>
                  <a:pt x="0" y="0"/>
                </a:moveTo>
                <a:lnTo>
                  <a:pt x="5915021" y="0"/>
                </a:lnTo>
                <a:lnTo>
                  <a:pt x="5915021" y="6936592"/>
                </a:lnTo>
                <a:lnTo>
                  <a:pt x="0" y="6936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65589" y="1970466"/>
            <a:ext cx="8893711" cy="6870392"/>
          </a:xfrm>
          <a:custGeom>
            <a:avLst/>
            <a:gdLst/>
            <a:ahLst/>
            <a:cxnLst/>
            <a:rect r="r" b="b" t="t" l="l"/>
            <a:pathLst>
              <a:path h="6870392" w="8893711">
                <a:moveTo>
                  <a:pt x="0" y="0"/>
                </a:moveTo>
                <a:lnTo>
                  <a:pt x="8893711" y="0"/>
                </a:lnTo>
                <a:lnTo>
                  <a:pt x="8893711" y="6870392"/>
                </a:lnTo>
                <a:lnTo>
                  <a:pt x="0" y="6870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69887"/>
            <a:ext cx="667309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Kiến trúc hệ thống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492581" y="-826752"/>
            <a:ext cx="829893" cy="3710905"/>
          </a:xfrm>
          <a:custGeom>
            <a:avLst/>
            <a:gdLst/>
            <a:ahLst/>
            <a:cxnLst/>
            <a:rect r="r" b="b" t="t" l="l"/>
            <a:pathLst>
              <a:path h="3710905" w="829893">
                <a:moveTo>
                  <a:pt x="0" y="0"/>
                </a:moveTo>
                <a:lnTo>
                  <a:pt x="829893" y="0"/>
                </a:lnTo>
                <a:lnTo>
                  <a:pt x="829893" y="3710904"/>
                </a:lnTo>
                <a:lnTo>
                  <a:pt x="0" y="3710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83826" y="8917058"/>
            <a:ext cx="6943011" cy="3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Luồng xử lý dữ liệu đầu vào thành findings trong SENTINEL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409078">
            <a:off x="13172376" y="-5443161"/>
            <a:ext cx="7739078" cy="9075678"/>
          </a:xfrm>
          <a:custGeom>
            <a:avLst/>
            <a:gdLst/>
            <a:ahLst/>
            <a:cxnLst/>
            <a:rect r="r" b="b" t="t" l="l"/>
            <a:pathLst>
              <a:path h="9075678" w="7739078">
                <a:moveTo>
                  <a:pt x="0" y="0"/>
                </a:moveTo>
                <a:lnTo>
                  <a:pt x="7739078" y="0"/>
                </a:lnTo>
                <a:lnTo>
                  <a:pt x="7739078" y="9075677"/>
                </a:lnTo>
                <a:lnTo>
                  <a:pt x="0" y="9075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76847">
            <a:off x="-3869539" y="5591803"/>
            <a:ext cx="7739078" cy="9075678"/>
          </a:xfrm>
          <a:custGeom>
            <a:avLst/>
            <a:gdLst/>
            <a:ahLst/>
            <a:cxnLst/>
            <a:rect r="r" b="b" t="t" l="l"/>
            <a:pathLst>
              <a:path h="9075678" w="7739078">
                <a:moveTo>
                  <a:pt x="0" y="0"/>
                </a:moveTo>
                <a:lnTo>
                  <a:pt x="7739078" y="0"/>
                </a:lnTo>
                <a:lnTo>
                  <a:pt x="7739078" y="9075678"/>
                </a:lnTo>
                <a:lnTo>
                  <a:pt x="0" y="9075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7259300" y="9378724"/>
            <a:ext cx="1691715" cy="1691715"/>
          </a:xfrm>
          <a:custGeom>
            <a:avLst/>
            <a:gdLst/>
            <a:ahLst/>
            <a:cxnLst/>
            <a:rect r="r" b="b" t="t" l="l"/>
            <a:pathLst>
              <a:path h="1691715" w="1691715">
                <a:moveTo>
                  <a:pt x="0" y="0"/>
                </a:moveTo>
                <a:lnTo>
                  <a:pt x="1691715" y="0"/>
                </a:lnTo>
                <a:lnTo>
                  <a:pt x="1691715" y="1691715"/>
                </a:lnTo>
                <a:lnTo>
                  <a:pt x="0" y="16917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7388616" y="8886314"/>
            <a:ext cx="450354" cy="450354"/>
          </a:xfrm>
          <a:custGeom>
            <a:avLst/>
            <a:gdLst/>
            <a:ahLst/>
            <a:cxnLst/>
            <a:rect r="r" b="b" t="t" l="l"/>
            <a:pathLst>
              <a:path h="450354" w="450354">
                <a:moveTo>
                  <a:pt x="0" y="0"/>
                </a:moveTo>
                <a:lnTo>
                  <a:pt x="450355" y="0"/>
                </a:lnTo>
                <a:lnTo>
                  <a:pt x="450355" y="450354"/>
                </a:lnTo>
                <a:lnTo>
                  <a:pt x="0" y="4503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222801"/>
            <a:ext cx="410765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Desktop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&amp; UI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Layer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810176"/>
            <a:ext cx="4107654" cy="90732"/>
            <a:chOff x="0" y="0"/>
            <a:chExt cx="1081851" cy="238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1851" cy="23897"/>
            </a:xfrm>
            <a:custGeom>
              <a:avLst/>
              <a:gdLst/>
              <a:ahLst/>
              <a:cxnLst/>
              <a:rect r="r" b="b" t="t" l="l"/>
              <a:pathLst>
                <a:path h="23897" w="1081851">
                  <a:moveTo>
                    <a:pt x="11948" y="0"/>
                  </a:moveTo>
                  <a:lnTo>
                    <a:pt x="1069903" y="0"/>
                  </a:lnTo>
                  <a:cubicBezTo>
                    <a:pt x="1073072" y="0"/>
                    <a:pt x="1076111" y="1259"/>
                    <a:pt x="1078352" y="3500"/>
                  </a:cubicBezTo>
                  <a:cubicBezTo>
                    <a:pt x="1080593" y="5740"/>
                    <a:pt x="1081851" y="8779"/>
                    <a:pt x="1081851" y="11948"/>
                  </a:cubicBezTo>
                  <a:lnTo>
                    <a:pt x="1081851" y="11948"/>
                  </a:lnTo>
                  <a:cubicBezTo>
                    <a:pt x="1081851" y="18547"/>
                    <a:pt x="1076502" y="23897"/>
                    <a:pt x="1069903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81851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298972"/>
            <a:ext cx="6500675" cy="523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Electron Desktop App: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Đóng gói hệ thống thành ứng dụng desktop.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React UI: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Hiển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thị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giao diện, dashboard, findings và report.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Zustand Store: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Quản lý trạng thái quét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và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d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ữ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liệu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findings.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AI Assistant: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G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iải thích findings, hỗ trợ giải đáp và gợi ý hướng khắc phục.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7000" y="-1091788"/>
            <a:ext cx="10634000" cy="12470576"/>
          </a:xfrm>
          <a:custGeom>
            <a:avLst/>
            <a:gdLst/>
            <a:ahLst/>
            <a:cxnLst/>
            <a:rect r="r" b="b" t="t" l="l"/>
            <a:pathLst>
              <a:path h="12470576" w="10634000">
                <a:moveTo>
                  <a:pt x="0" y="0"/>
                </a:moveTo>
                <a:lnTo>
                  <a:pt x="10634000" y="0"/>
                </a:lnTo>
                <a:lnTo>
                  <a:pt x="10634000" y="12470576"/>
                </a:lnTo>
                <a:lnTo>
                  <a:pt x="0" y="12470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0383" y="642489"/>
            <a:ext cx="794514" cy="794514"/>
          </a:xfrm>
          <a:custGeom>
            <a:avLst/>
            <a:gdLst/>
            <a:ahLst/>
            <a:cxnLst/>
            <a:rect r="r" b="b" t="t" l="l"/>
            <a:pathLst>
              <a:path h="794514" w="794514">
                <a:moveTo>
                  <a:pt x="0" y="0"/>
                </a:moveTo>
                <a:lnTo>
                  <a:pt x="794514" y="0"/>
                </a:lnTo>
                <a:lnTo>
                  <a:pt x="794514" y="794514"/>
                </a:lnTo>
                <a:lnTo>
                  <a:pt x="0" y="7945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539112"/>
            <a:ext cx="4515935" cy="2128138"/>
            <a:chOff x="0" y="0"/>
            <a:chExt cx="1189382" cy="560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9382" cy="560497"/>
            </a:xfrm>
            <a:custGeom>
              <a:avLst/>
              <a:gdLst/>
              <a:ahLst/>
              <a:cxnLst/>
              <a:rect r="r" b="b" t="t" l="l"/>
              <a:pathLst>
                <a:path h="560497" w="1189382">
                  <a:moveTo>
                    <a:pt x="51431" y="0"/>
                  </a:moveTo>
                  <a:lnTo>
                    <a:pt x="1137951" y="0"/>
                  </a:lnTo>
                  <a:cubicBezTo>
                    <a:pt x="1151592" y="0"/>
                    <a:pt x="1164673" y="5419"/>
                    <a:pt x="1174318" y="15064"/>
                  </a:cubicBezTo>
                  <a:cubicBezTo>
                    <a:pt x="1183964" y="24709"/>
                    <a:pt x="1189382" y="37790"/>
                    <a:pt x="1189382" y="51431"/>
                  </a:cubicBezTo>
                  <a:lnTo>
                    <a:pt x="1189382" y="509067"/>
                  </a:lnTo>
                  <a:cubicBezTo>
                    <a:pt x="1189382" y="537471"/>
                    <a:pt x="1166356" y="560497"/>
                    <a:pt x="1137951" y="560497"/>
                  </a:cubicBezTo>
                  <a:lnTo>
                    <a:pt x="51431" y="560497"/>
                  </a:lnTo>
                  <a:cubicBezTo>
                    <a:pt x="23026" y="560497"/>
                    <a:pt x="0" y="537471"/>
                    <a:pt x="0" y="509067"/>
                  </a:cubicBezTo>
                  <a:lnTo>
                    <a:pt x="0" y="51431"/>
                  </a:lnTo>
                  <a:cubicBezTo>
                    <a:pt x="0" y="23026"/>
                    <a:pt x="23026" y="0"/>
                    <a:pt x="514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89382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040222" y="369887"/>
            <a:ext cx="620755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Chức năng chính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17945" y="2145525"/>
            <a:ext cx="2691646" cy="787175"/>
            <a:chOff x="0" y="0"/>
            <a:chExt cx="708911" cy="2073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8911" cy="207322"/>
            </a:xfrm>
            <a:custGeom>
              <a:avLst/>
              <a:gdLst/>
              <a:ahLst/>
              <a:cxnLst/>
              <a:rect r="r" b="b" t="t" l="l"/>
              <a:pathLst>
                <a:path h="207322" w="708911">
                  <a:moveTo>
                    <a:pt x="86288" y="0"/>
                  </a:moveTo>
                  <a:lnTo>
                    <a:pt x="622622" y="0"/>
                  </a:lnTo>
                  <a:cubicBezTo>
                    <a:pt x="670278" y="0"/>
                    <a:pt x="708911" y="38633"/>
                    <a:pt x="708911" y="86288"/>
                  </a:cubicBezTo>
                  <a:lnTo>
                    <a:pt x="708911" y="121033"/>
                  </a:lnTo>
                  <a:cubicBezTo>
                    <a:pt x="708911" y="168689"/>
                    <a:pt x="670278" y="207322"/>
                    <a:pt x="622622" y="207322"/>
                  </a:cubicBezTo>
                  <a:lnTo>
                    <a:pt x="86288" y="207322"/>
                  </a:lnTo>
                  <a:cubicBezTo>
                    <a:pt x="38633" y="207322"/>
                    <a:pt x="0" y="168689"/>
                    <a:pt x="0" y="121033"/>
                  </a:cubicBezTo>
                  <a:lnTo>
                    <a:pt x="0" y="86288"/>
                  </a:lnTo>
                  <a:cubicBezTo>
                    <a:pt x="0" y="38633"/>
                    <a:pt x="38633" y="0"/>
                    <a:pt x="86288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08911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31437" y="2216850"/>
            <a:ext cx="2064663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URL Scan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2574" y="3112385"/>
            <a:ext cx="402818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Quét website/endpoint đang chạy, kiểm tra header, cookie, CORS, form và phản hồi lỗi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8771" y="2539112"/>
            <a:ext cx="5270458" cy="2128138"/>
            <a:chOff x="0" y="0"/>
            <a:chExt cx="1388104" cy="560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8104" cy="560497"/>
            </a:xfrm>
            <a:custGeom>
              <a:avLst/>
              <a:gdLst/>
              <a:ahLst/>
              <a:cxnLst/>
              <a:rect r="r" b="b" t="t" l="l"/>
              <a:pathLst>
                <a:path h="560497" w="1388104">
                  <a:moveTo>
                    <a:pt x="44068" y="0"/>
                  </a:moveTo>
                  <a:lnTo>
                    <a:pt x="1344036" y="0"/>
                  </a:lnTo>
                  <a:cubicBezTo>
                    <a:pt x="1368374" y="0"/>
                    <a:pt x="1388104" y="19730"/>
                    <a:pt x="1388104" y="44068"/>
                  </a:cubicBezTo>
                  <a:lnTo>
                    <a:pt x="1388104" y="516429"/>
                  </a:lnTo>
                  <a:cubicBezTo>
                    <a:pt x="1388104" y="540767"/>
                    <a:pt x="1368374" y="560497"/>
                    <a:pt x="1344036" y="560497"/>
                  </a:cubicBezTo>
                  <a:lnTo>
                    <a:pt x="44068" y="560497"/>
                  </a:lnTo>
                  <a:cubicBezTo>
                    <a:pt x="19730" y="560497"/>
                    <a:pt x="0" y="540767"/>
                    <a:pt x="0" y="516429"/>
                  </a:cubicBezTo>
                  <a:lnTo>
                    <a:pt x="0" y="44068"/>
                  </a:lnTo>
                  <a:cubicBezTo>
                    <a:pt x="0" y="19730"/>
                    <a:pt x="19730" y="0"/>
                    <a:pt x="440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88104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58081" y="2145525"/>
            <a:ext cx="3171838" cy="787175"/>
            <a:chOff x="0" y="0"/>
            <a:chExt cx="835381" cy="2073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5381" cy="207322"/>
            </a:xfrm>
            <a:custGeom>
              <a:avLst/>
              <a:gdLst/>
              <a:ahLst/>
              <a:cxnLst/>
              <a:rect r="r" b="b" t="t" l="l"/>
              <a:pathLst>
                <a:path h="207322" w="835381">
                  <a:moveTo>
                    <a:pt x="73225" y="0"/>
                  </a:moveTo>
                  <a:lnTo>
                    <a:pt x="762156" y="0"/>
                  </a:lnTo>
                  <a:cubicBezTo>
                    <a:pt x="802597" y="0"/>
                    <a:pt x="835381" y="32784"/>
                    <a:pt x="835381" y="73225"/>
                  </a:cubicBezTo>
                  <a:lnTo>
                    <a:pt x="835381" y="134097"/>
                  </a:lnTo>
                  <a:cubicBezTo>
                    <a:pt x="835381" y="153517"/>
                    <a:pt x="827667" y="172142"/>
                    <a:pt x="813934" y="185875"/>
                  </a:cubicBezTo>
                  <a:cubicBezTo>
                    <a:pt x="800202" y="199607"/>
                    <a:pt x="781577" y="207322"/>
                    <a:pt x="762156" y="207322"/>
                  </a:cubicBezTo>
                  <a:lnTo>
                    <a:pt x="73225" y="207322"/>
                  </a:lnTo>
                  <a:cubicBezTo>
                    <a:pt x="53804" y="207322"/>
                    <a:pt x="35179" y="199607"/>
                    <a:pt x="21447" y="185875"/>
                  </a:cubicBezTo>
                  <a:cubicBezTo>
                    <a:pt x="7715" y="172142"/>
                    <a:pt x="0" y="153517"/>
                    <a:pt x="0" y="134097"/>
                  </a:cubicBezTo>
                  <a:lnTo>
                    <a:pt x="0" y="73225"/>
                  </a:lnTo>
                  <a:cubicBezTo>
                    <a:pt x="0" y="53804"/>
                    <a:pt x="7715" y="35179"/>
                    <a:pt x="21447" y="21447"/>
                  </a:cubicBezTo>
                  <a:cubicBezTo>
                    <a:pt x="35179" y="7715"/>
                    <a:pt x="53804" y="0"/>
                    <a:pt x="73225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35381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14131" y="2216850"/>
            <a:ext cx="265973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Project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Scan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94845" y="3112385"/>
            <a:ext cx="489831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Phâ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n tích mã nguồn, cấu hình và dependency để phát hiện secret, logging nhạy cảm và package rủi ro.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741254" y="2539112"/>
            <a:ext cx="4515935" cy="2128138"/>
            <a:chOff x="0" y="0"/>
            <a:chExt cx="1189382" cy="5604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89382" cy="560497"/>
            </a:xfrm>
            <a:custGeom>
              <a:avLst/>
              <a:gdLst/>
              <a:ahLst/>
              <a:cxnLst/>
              <a:rect r="r" b="b" t="t" l="l"/>
              <a:pathLst>
                <a:path h="560497" w="1189382">
                  <a:moveTo>
                    <a:pt x="51431" y="0"/>
                  </a:moveTo>
                  <a:lnTo>
                    <a:pt x="1137951" y="0"/>
                  </a:lnTo>
                  <a:cubicBezTo>
                    <a:pt x="1151592" y="0"/>
                    <a:pt x="1164673" y="5419"/>
                    <a:pt x="1174318" y="15064"/>
                  </a:cubicBezTo>
                  <a:cubicBezTo>
                    <a:pt x="1183964" y="24709"/>
                    <a:pt x="1189382" y="37790"/>
                    <a:pt x="1189382" y="51431"/>
                  </a:cubicBezTo>
                  <a:lnTo>
                    <a:pt x="1189382" y="509067"/>
                  </a:lnTo>
                  <a:cubicBezTo>
                    <a:pt x="1189382" y="537471"/>
                    <a:pt x="1166356" y="560497"/>
                    <a:pt x="1137951" y="560497"/>
                  </a:cubicBezTo>
                  <a:lnTo>
                    <a:pt x="51431" y="560497"/>
                  </a:lnTo>
                  <a:cubicBezTo>
                    <a:pt x="23026" y="560497"/>
                    <a:pt x="0" y="537471"/>
                    <a:pt x="0" y="509067"/>
                  </a:cubicBezTo>
                  <a:lnTo>
                    <a:pt x="0" y="51431"/>
                  </a:lnTo>
                  <a:cubicBezTo>
                    <a:pt x="0" y="23026"/>
                    <a:pt x="23026" y="0"/>
                    <a:pt x="514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89382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30499" y="2145525"/>
            <a:ext cx="2691646" cy="787175"/>
            <a:chOff x="0" y="0"/>
            <a:chExt cx="708911" cy="2073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8911" cy="207322"/>
            </a:xfrm>
            <a:custGeom>
              <a:avLst/>
              <a:gdLst/>
              <a:ahLst/>
              <a:cxnLst/>
              <a:rect r="r" b="b" t="t" l="l"/>
              <a:pathLst>
                <a:path h="207322" w="708911">
                  <a:moveTo>
                    <a:pt x="86288" y="0"/>
                  </a:moveTo>
                  <a:lnTo>
                    <a:pt x="622622" y="0"/>
                  </a:lnTo>
                  <a:cubicBezTo>
                    <a:pt x="670278" y="0"/>
                    <a:pt x="708911" y="38633"/>
                    <a:pt x="708911" y="86288"/>
                  </a:cubicBezTo>
                  <a:lnTo>
                    <a:pt x="708911" y="121033"/>
                  </a:lnTo>
                  <a:cubicBezTo>
                    <a:pt x="708911" y="168689"/>
                    <a:pt x="670278" y="207322"/>
                    <a:pt x="622622" y="207322"/>
                  </a:cubicBezTo>
                  <a:lnTo>
                    <a:pt x="86288" y="207322"/>
                  </a:lnTo>
                  <a:cubicBezTo>
                    <a:pt x="38633" y="207322"/>
                    <a:pt x="0" y="168689"/>
                    <a:pt x="0" y="121033"/>
                  </a:cubicBezTo>
                  <a:lnTo>
                    <a:pt x="0" y="86288"/>
                  </a:lnTo>
                  <a:cubicBezTo>
                    <a:pt x="0" y="38633"/>
                    <a:pt x="38633" y="0"/>
                    <a:pt x="86288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08911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022453" y="2216850"/>
            <a:ext cx="1907738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Che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c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klist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85128" y="3112385"/>
            <a:ext cx="402818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Chuyển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 findings thành danh sách việc cần xử lý và theo dõi trạng thái 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khắc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 phục.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943103" y="664581"/>
            <a:ext cx="772422" cy="772422"/>
          </a:xfrm>
          <a:custGeom>
            <a:avLst/>
            <a:gdLst/>
            <a:ahLst/>
            <a:cxnLst/>
            <a:rect r="r" b="b" t="t" l="l"/>
            <a:pathLst>
              <a:path h="772422" w="772422">
                <a:moveTo>
                  <a:pt x="0" y="0"/>
                </a:moveTo>
                <a:lnTo>
                  <a:pt x="772422" y="0"/>
                </a:lnTo>
                <a:lnTo>
                  <a:pt x="772422" y="772422"/>
                </a:lnTo>
                <a:lnTo>
                  <a:pt x="0" y="772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28700" y="6013337"/>
            <a:ext cx="4515935" cy="2128138"/>
            <a:chOff x="0" y="0"/>
            <a:chExt cx="1189382" cy="5604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89382" cy="560497"/>
            </a:xfrm>
            <a:custGeom>
              <a:avLst/>
              <a:gdLst/>
              <a:ahLst/>
              <a:cxnLst/>
              <a:rect r="r" b="b" t="t" l="l"/>
              <a:pathLst>
                <a:path h="560497" w="1189382">
                  <a:moveTo>
                    <a:pt x="51431" y="0"/>
                  </a:moveTo>
                  <a:lnTo>
                    <a:pt x="1137951" y="0"/>
                  </a:lnTo>
                  <a:cubicBezTo>
                    <a:pt x="1151592" y="0"/>
                    <a:pt x="1164673" y="5419"/>
                    <a:pt x="1174318" y="15064"/>
                  </a:cubicBezTo>
                  <a:cubicBezTo>
                    <a:pt x="1183964" y="24709"/>
                    <a:pt x="1189382" y="37790"/>
                    <a:pt x="1189382" y="51431"/>
                  </a:cubicBezTo>
                  <a:lnTo>
                    <a:pt x="1189382" y="509067"/>
                  </a:lnTo>
                  <a:cubicBezTo>
                    <a:pt x="1189382" y="537471"/>
                    <a:pt x="1166356" y="560497"/>
                    <a:pt x="1137951" y="560497"/>
                  </a:cubicBezTo>
                  <a:lnTo>
                    <a:pt x="51431" y="560497"/>
                  </a:lnTo>
                  <a:cubicBezTo>
                    <a:pt x="23026" y="560497"/>
                    <a:pt x="0" y="537471"/>
                    <a:pt x="0" y="509067"/>
                  </a:cubicBezTo>
                  <a:lnTo>
                    <a:pt x="0" y="51431"/>
                  </a:lnTo>
                  <a:cubicBezTo>
                    <a:pt x="0" y="23026"/>
                    <a:pt x="23026" y="0"/>
                    <a:pt x="514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189382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58328" y="5619750"/>
            <a:ext cx="3056679" cy="787175"/>
            <a:chOff x="0" y="0"/>
            <a:chExt cx="805051" cy="2073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05051" cy="207322"/>
            </a:xfrm>
            <a:custGeom>
              <a:avLst/>
              <a:gdLst/>
              <a:ahLst/>
              <a:cxnLst/>
              <a:rect r="r" b="b" t="t" l="l"/>
              <a:pathLst>
                <a:path h="207322" w="805051">
                  <a:moveTo>
                    <a:pt x="75984" y="0"/>
                  </a:moveTo>
                  <a:lnTo>
                    <a:pt x="729068" y="0"/>
                  </a:lnTo>
                  <a:cubicBezTo>
                    <a:pt x="749220" y="0"/>
                    <a:pt x="768546" y="8005"/>
                    <a:pt x="782796" y="22255"/>
                  </a:cubicBezTo>
                  <a:cubicBezTo>
                    <a:pt x="797046" y="36505"/>
                    <a:pt x="805051" y="55832"/>
                    <a:pt x="805051" y="75984"/>
                  </a:cubicBezTo>
                  <a:lnTo>
                    <a:pt x="805051" y="131338"/>
                  </a:lnTo>
                  <a:cubicBezTo>
                    <a:pt x="805051" y="173303"/>
                    <a:pt x="771032" y="207322"/>
                    <a:pt x="729068" y="207322"/>
                  </a:cubicBezTo>
                  <a:lnTo>
                    <a:pt x="75984" y="207322"/>
                  </a:lnTo>
                  <a:cubicBezTo>
                    <a:pt x="34019" y="207322"/>
                    <a:pt x="0" y="173303"/>
                    <a:pt x="0" y="131338"/>
                  </a:cubicBezTo>
                  <a:lnTo>
                    <a:pt x="0" y="75984"/>
                  </a:lnTo>
                  <a:cubicBezTo>
                    <a:pt x="0" y="34019"/>
                    <a:pt x="34019" y="0"/>
                    <a:pt x="75984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05051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974560" y="5691075"/>
            <a:ext cx="2578418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AI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Assist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an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9675" y="6587900"/>
            <a:ext cx="402818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Hỗ trợ giải 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thích findings, nhóm OWASP và gợi ý hướng xử lý theo ngữ cảnh.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508771" y="6013337"/>
            <a:ext cx="5270458" cy="2128138"/>
            <a:chOff x="0" y="0"/>
            <a:chExt cx="1388104" cy="5604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88104" cy="560497"/>
            </a:xfrm>
            <a:custGeom>
              <a:avLst/>
              <a:gdLst/>
              <a:ahLst/>
              <a:cxnLst/>
              <a:rect r="r" b="b" t="t" l="l"/>
              <a:pathLst>
                <a:path h="560497" w="1388104">
                  <a:moveTo>
                    <a:pt x="44068" y="0"/>
                  </a:moveTo>
                  <a:lnTo>
                    <a:pt x="1344036" y="0"/>
                  </a:lnTo>
                  <a:cubicBezTo>
                    <a:pt x="1368374" y="0"/>
                    <a:pt x="1388104" y="19730"/>
                    <a:pt x="1388104" y="44068"/>
                  </a:cubicBezTo>
                  <a:lnTo>
                    <a:pt x="1388104" y="516429"/>
                  </a:lnTo>
                  <a:cubicBezTo>
                    <a:pt x="1388104" y="540767"/>
                    <a:pt x="1368374" y="560497"/>
                    <a:pt x="1344036" y="560497"/>
                  </a:cubicBezTo>
                  <a:lnTo>
                    <a:pt x="44068" y="560497"/>
                  </a:lnTo>
                  <a:cubicBezTo>
                    <a:pt x="19730" y="560497"/>
                    <a:pt x="0" y="540767"/>
                    <a:pt x="0" y="516429"/>
                  </a:cubicBezTo>
                  <a:lnTo>
                    <a:pt x="0" y="44068"/>
                  </a:lnTo>
                  <a:cubicBezTo>
                    <a:pt x="0" y="19730"/>
                    <a:pt x="19730" y="0"/>
                    <a:pt x="440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388104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37792" y="5619750"/>
            <a:ext cx="4612416" cy="787175"/>
            <a:chOff x="0" y="0"/>
            <a:chExt cx="1214793" cy="20732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14793" cy="207322"/>
            </a:xfrm>
            <a:custGeom>
              <a:avLst/>
              <a:gdLst/>
              <a:ahLst/>
              <a:cxnLst/>
              <a:rect r="r" b="b" t="t" l="l"/>
              <a:pathLst>
                <a:path h="207322" w="1214793">
                  <a:moveTo>
                    <a:pt x="50355" y="0"/>
                  </a:moveTo>
                  <a:lnTo>
                    <a:pt x="1164438" y="0"/>
                  </a:lnTo>
                  <a:cubicBezTo>
                    <a:pt x="1192248" y="0"/>
                    <a:pt x="1214793" y="22545"/>
                    <a:pt x="1214793" y="50355"/>
                  </a:cubicBezTo>
                  <a:lnTo>
                    <a:pt x="1214793" y="156967"/>
                  </a:lnTo>
                  <a:cubicBezTo>
                    <a:pt x="1214793" y="184777"/>
                    <a:pt x="1192248" y="207322"/>
                    <a:pt x="1164438" y="207322"/>
                  </a:cubicBezTo>
                  <a:lnTo>
                    <a:pt x="50355" y="207322"/>
                  </a:lnTo>
                  <a:cubicBezTo>
                    <a:pt x="22545" y="207322"/>
                    <a:pt x="0" y="184777"/>
                    <a:pt x="0" y="156967"/>
                  </a:cubicBezTo>
                  <a:lnTo>
                    <a:pt x="0" y="50355"/>
                  </a:lnTo>
                  <a:cubicBezTo>
                    <a:pt x="0" y="22545"/>
                    <a:pt x="22545" y="0"/>
                    <a:pt x="50355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214793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000696" y="5691075"/>
            <a:ext cx="428660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Findings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 Dashboard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94845" y="6587900"/>
            <a:ext cx="489831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Tổ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ng hợp findings theo mức độ rủi ro, gồm nhóm OWASP, bằng chứng, vị trí và hướng xử lý.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741254" y="6013337"/>
            <a:ext cx="4515935" cy="2128138"/>
            <a:chOff x="0" y="0"/>
            <a:chExt cx="1189382" cy="5604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89382" cy="560497"/>
            </a:xfrm>
            <a:custGeom>
              <a:avLst/>
              <a:gdLst/>
              <a:ahLst/>
              <a:cxnLst/>
              <a:rect r="r" b="b" t="t" l="l"/>
              <a:pathLst>
                <a:path h="560497" w="1189382">
                  <a:moveTo>
                    <a:pt x="51431" y="0"/>
                  </a:moveTo>
                  <a:lnTo>
                    <a:pt x="1137951" y="0"/>
                  </a:lnTo>
                  <a:cubicBezTo>
                    <a:pt x="1151592" y="0"/>
                    <a:pt x="1164673" y="5419"/>
                    <a:pt x="1174318" y="15064"/>
                  </a:cubicBezTo>
                  <a:cubicBezTo>
                    <a:pt x="1183964" y="24709"/>
                    <a:pt x="1189382" y="37790"/>
                    <a:pt x="1189382" y="51431"/>
                  </a:cubicBezTo>
                  <a:lnTo>
                    <a:pt x="1189382" y="509067"/>
                  </a:lnTo>
                  <a:cubicBezTo>
                    <a:pt x="1189382" y="537471"/>
                    <a:pt x="1166356" y="560497"/>
                    <a:pt x="1137951" y="560497"/>
                  </a:cubicBezTo>
                  <a:lnTo>
                    <a:pt x="51431" y="560497"/>
                  </a:lnTo>
                  <a:cubicBezTo>
                    <a:pt x="23026" y="560497"/>
                    <a:pt x="0" y="537471"/>
                    <a:pt x="0" y="509067"/>
                  </a:cubicBezTo>
                  <a:lnTo>
                    <a:pt x="0" y="51431"/>
                  </a:lnTo>
                  <a:cubicBezTo>
                    <a:pt x="0" y="23026"/>
                    <a:pt x="23026" y="0"/>
                    <a:pt x="514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189382" cy="608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00821" y="5619750"/>
            <a:ext cx="3351003" cy="787175"/>
            <a:chOff x="0" y="0"/>
            <a:chExt cx="882569" cy="20732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82569" cy="207322"/>
            </a:xfrm>
            <a:custGeom>
              <a:avLst/>
              <a:gdLst/>
              <a:ahLst/>
              <a:cxnLst/>
              <a:rect r="r" b="b" t="t" l="l"/>
              <a:pathLst>
                <a:path h="207322" w="882569">
                  <a:moveTo>
                    <a:pt x="69310" y="0"/>
                  </a:moveTo>
                  <a:lnTo>
                    <a:pt x="813259" y="0"/>
                  </a:lnTo>
                  <a:cubicBezTo>
                    <a:pt x="831641" y="0"/>
                    <a:pt x="849270" y="7302"/>
                    <a:pt x="862268" y="20300"/>
                  </a:cubicBezTo>
                  <a:cubicBezTo>
                    <a:pt x="875267" y="33299"/>
                    <a:pt x="882569" y="50928"/>
                    <a:pt x="882569" y="69310"/>
                  </a:cubicBezTo>
                  <a:lnTo>
                    <a:pt x="882569" y="138012"/>
                  </a:lnTo>
                  <a:cubicBezTo>
                    <a:pt x="882569" y="176291"/>
                    <a:pt x="851538" y="207322"/>
                    <a:pt x="813259" y="207322"/>
                  </a:cubicBezTo>
                  <a:lnTo>
                    <a:pt x="69310" y="207322"/>
                  </a:lnTo>
                  <a:cubicBezTo>
                    <a:pt x="31031" y="207322"/>
                    <a:pt x="0" y="176291"/>
                    <a:pt x="0" y="138012"/>
                  </a:cubicBezTo>
                  <a:lnTo>
                    <a:pt x="0" y="69310"/>
                  </a:lnTo>
                  <a:cubicBezTo>
                    <a:pt x="0" y="50928"/>
                    <a:pt x="7302" y="33299"/>
                    <a:pt x="20300" y="20300"/>
                  </a:cubicBezTo>
                  <a:cubicBezTo>
                    <a:pt x="33299" y="7302"/>
                    <a:pt x="50928" y="0"/>
                    <a:pt x="69310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82569" cy="254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501971" y="5691075"/>
            <a:ext cx="294870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Report Expor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85128" y="6586610"/>
            <a:ext cx="402818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Xuất báo</a:t>
            </a:r>
            <a:r>
              <a:rPr lang="en-US" b="true" sz="2200" strike="noStrike" u="none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 cáo HTML/JSON phục vụ lưu trữ, chia sẻ và đánh giá kết quả.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5400000">
            <a:off x="-2613" y="7432554"/>
            <a:ext cx="816607" cy="3651492"/>
          </a:xfrm>
          <a:custGeom>
            <a:avLst/>
            <a:gdLst/>
            <a:ahLst/>
            <a:cxnLst/>
            <a:rect r="r" b="b" t="t" l="l"/>
            <a:pathLst>
              <a:path h="3651492" w="816607">
                <a:moveTo>
                  <a:pt x="0" y="0"/>
                </a:moveTo>
                <a:lnTo>
                  <a:pt x="816607" y="0"/>
                </a:lnTo>
                <a:lnTo>
                  <a:pt x="816607" y="3651492"/>
                </a:lnTo>
                <a:lnTo>
                  <a:pt x="0" y="3651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5400000">
            <a:off x="17347634" y="-797046"/>
            <a:ext cx="816607" cy="3651492"/>
          </a:xfrm>
          <a:custGeom>
            <a:avLst/>
            <a:gdLst/>
            <a:ahLst/>
            <a:cxnLst/>
            <a:rect r="r" b="b" t="t" l="l"/>
            <a:pathLst>
              <a:path h="3651492" w="816607">
                <a:moveTo>
                  <a:pt x="0" y="0"/>
                </a:moveTo>
                <a:lnTo>
                  <a:pt x="816607" y="0"/>
                </a:lnTo>
                <a:lnTo>
                  <a:pt x="816607" y="3651492"/>
                </a:lnTo>
                <a:lnTo>
                  <a:pt x="0" y="3651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78105" y="-6478813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2" y="0"/>
                </a:lnTo>
                <a:lnTo>
                  <a:pt x="11049322" y="12957626"/>
                </a:lnTo>
                <a:lnTo>
                  <a:pt x="0" y="12957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808567">
            <a:off x="-1578674" y="4555795"/>
            <a:ext cx="8273999" cy="9702984"/>
          </a:xfrm>
          <a:custGeom>
            <a:avLst/>
            <a:gdLst/>
            <a:ahLst/>
            <a:cxnLst/>
            <a:rect r="r" b="b" t="t" l="l"/>
            <a:pathLst>
              <a:path h="9702984" w="8273999">
                <a:moveTo>
                  <a:pt x="0" y="0"/>
                </a:moveTo>
                <a:lnTo>
                  <a:pt x="8274000" y="0"/>
                </a:lnTo>
                <a:lnTo>
                  <a:pt x="8274000" y="9702984"/>
                </a:lnTo>
                <a:lnTo>
                  <a:pt x="0" y="9702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33981" y="1883200"/>
            <a:ext cx="7125319" cy="3593697"/>
          </a:xfrm>
          <a:custGeom>
            <a:avLst/>
            <a:gdLst/>
            <a:ahLst/>
            <a:cxnLst/>
            <a:rect r="r" b="b" t="t" l="l"/>
            <a:pathLst>
              <a:path h="3593697" w="7125319">
                <a:moveTo>
                  <a:pt x="0" y="0"/>
                </a:moveTo>
                <a:lnTo>
                  <a:pt x="7125319" y="0"/>
                </a:lnTo>
                <a:lnTo>
                  <a:pt x="7125319" y="3593697"/>
                </a:lnTo>
                <a:lnTo>
                  <a:pt x="0" y="3593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98" t="0" r="0" b="-35447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42566" y="5670836"/>
            <a:ext cx="7701434" cy="3462566"/>
          </a:xfrm>
          <a:custGeom>
            <a:avLst/>
            <a:gdLst/>
            <a:ahLst/>
            <a:cxnLst/>
            <a:rect r="r" b="b" t="t" l="l"/>
            <a:pathLst>
              <a:path h="3462566" w="7701434">
                <a:moveTo>
                  <a:pt x="0" y="0"/>
                </a:moveTo>
                <a:lnTo>
                  <a:pt x="7701434" y="0"/>
                </a:lnTo>
                <a:lnTo>
                  <a:pt x="7701434" y="3462567"/>
                </a:lnTo>
                <a:lnTo>
                  <a:pt x="0" y="3462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73" t="0" r="-45369" b="-36673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665353"/>
            <a:ext cx="8549055" cy="8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7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Điểm nổi bật của dự 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0225" y="2797399"/>
            <a:ext cx="6706116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Kết hợp nhiều hướng kiểm thử: </a:t>
            </a: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Tích hợp DAST, SAST và SCA trong một hệ thống, giúp kiểm tra đồng thời website đang chạy và mã nguồn dự án</a:t>
            </a:r>
            <a:r>
              <a:rPr lang="en-US" b="true" sz="2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33981" y="6519469"/>
            <a:ext cx="712531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Chuẩn hóa findings theo OWASP:</a:t>
            </a: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Mỗi finding được phân loại theo OWASP Top 10, kèm mức độ nghiêm trọng, độ tin cậy, bằng chứng và hướng khắc phục để hỗ trợ ưu tiên xử lý.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664586" y="1288487"/>
            <a:ext cx="1189428" cy="1189428"/>
          </a:xfrm>
          <a:custGeom>
            <a:avLst/>
            <a:gdLst/>
            <a:ahLst/>
            <a:cxnLst/>
            <a:rect r="r" b="b" t="t" l="l"/>
            <a:pathLst>
              <a:path h="1189428" w="1189428">
                <a:moveTo>
                  <a:pt x="0" y="0"/>
                </a:moveTo>
                <a:lnTo>
                  <a:pt x="1189428" y="0"/>
                </a:lnTo>
                <a:lnTo>
                  <a:pt x="1189428" y="1189427"/>
                </a:lnTo>
                <a:lnTo>
                  <a:pt x="0" y="118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78864" y="1028700"/>
            <a:ext cx="385722" cy="385722"/>
          </a:xfrm>
          <a:custGeom>
            <a:avLst/>
            <a:gdLst/>
            <a:ahLst/>
            <a:cxnLst/>
            <a:rect r="r" b="b" t="t" l="l"/>
            <a:pathLst>
              <a:path h="385722" w="385722">
                <a:moveTo>
                  <a:pt x="0" y="0"/>
                </a:moveTo>
                <a:lnTo>
                  <a:pt x="385722" y="0"/>
                </a:lnTo>
                <a:lnTo>
                  <a:pt x="385722" y="385722"/>
                </a:lnTo>
                <a:lnTo>
                  <a:pt x="0" y="38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56285" y="8700902"/>
            <a:ext cx="865001" cy="865001"/>
          </a:xfrm>
          <a:custGeom>
            <a:avLst/>
            <a:gdLst/>
            <a:ahLst/>
            <a:cxnLst/>
            <a:rect r="r" b="b" t="t" l="l"/>
            <a:pathLst>
              <a:path h="865001" w="865001">
                <a:moveTo>
                  <a:pt x="0" y="0"/>
                </a:moveTo>
                <a:lnTo>
                  <a:pt x="865001" y="0"/>
                </a:lnTo>
                <a:lnTo>
                  <a:pt x="865001" y="865001"/>
                </a:lnTo>
                <a:lnTo>
                  <a:pt x="0" y="865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02300" y="9407287"/>
            <a:ext cx="553985" cy="553985"/>
          </a:xfrm>
          <a:custGeom>
            <a:avLst/>
            <a:gdLst/>
            <a:ahLst/>
            <a:cxnLst/>
            <a:rect r="r" b="b" t="t" l="l"/>
            <a:pathLst>
              <a:path h="553985" w="553985">
                <a:moveTo>
                  <a:pt x="0" y="0"/>
                </a:moveTo>
                <a:lnTo>
                  <a:pt x="553985" y="0"/>
                </a:lnTo>
                <a:lnTo>
                  <a:pt x="553985" y="553985"/>
                </a:lnTo>
                <a:lnTo>
                  <a:pt x="0" y="5539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563497"/>
            <a:ext cx="8409050" cy="90732"/>
            <a:chOff x="0" y="0"/>
            <a:chExt cx="2214729" cy="23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4729" cy="23897"/>
            </a:xfrm>
            <a:custGeom>
              <a:avLst/>
              <a:gdLst/>
              <a:ahLst/>
              <a:cxnLst/>
              <a:rect r="r" b="b" t="t" l="l"/>
              <a:pathLst>
                <a:path h="23897" w="2214729">
                  <a:moveTo>
                    <a:pt x="11948" y="0"/>
                  </a:moveTo>
                  <a:lnTo>
                    <a:pt x="2202781" y="0"/>
                  </a:lnTo>
                  <a:cubicBezTo>
                    <a:pt x="2205950" y="0"/>
                    <a:pt x="2208989" y="1259"/>
                    <a:pt x="2211230" y="3500"/>
                  </a:cubicBezTo>
                  <a:cubicBezTo>
                    <a:pt x="2213470" y="5740"/>
                    <a:pt x="2214729" y="8779"/>
                    <a:pt x="2214729" y="11948"/>
                  </a:cubicBezTo>
                  <a:lnTo>
                    <a:pt x="2214729" y="11948"/>
                  </a:lnTo>
                  <a:cubicBezTo>
                    <a:pt x="2214729" y="18547"/>
                    <a:pt x="2209380" y="23897"/>
                    <a:pt x="2202781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14729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675475" y="3430937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2" y="0"/>
                </a:lnTo>
                <a:lnTo>
                  <a:pt x="11049322" y="12957626"/>
                </a:lnTo>
                <a:lnTo>
                  <a:pt x="0" y="12957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081856" y="-7275613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2" y="0"/>
                </a:lnTo>
                <a:lnTo>
                  <a:pt x="11049322" y="12957627"/>
                </a:lnTo>
                <a:lnTo>
                  <a:pt x="0" y="12957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4341" y="1962766"/>
            <a:ext cx="6116982" cy="3593697"/>
          </a:xfrm>
          <a:custGeom>
            <a:avLst/>
            <a:gdLst/>
            <a:ahLst/>
            <a:cxnLst/>
            <a:rect r="r" b="b" t="t" l="l"/>
            <a:pathLst>
              <a:path h="3593697" w="6116982">
                <a:moveTo>
                  <a:pt x="0" y="0"/>
                </a:moveTo>
                <a:lnTo>
                  <a:pt x="6116982" y="0"/>
                </a:lnTo>
                <a:lnTo>
                  <a:pt x="6116982" y="3593697"/>
                </a:lnTo>
                <a:lnTo>
                  <a:pt x="0" y="3593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297" r="-42984" b="-15304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979946" y="5556463"/>
            <a:ext cx="7459622" cy="3701837"/>
          </a:xfrm>
          <a:custGeom>
            <a:avLst/>
            <a:gdLst/>
            <a:ahLst/>
            <a:cxnLst/>
            <a:rect r="r" b="b" t="t" l="l"/>
            <a:pathLst>
              <a:path h="3701837" w="7459622">
                <a:moveTo>
                  <a:pt x="0" y="0"/>
                </a:moveTo>
                <a:lnTo>
                  <a:pt x="7459622" y="0"/>
                </a:lnTo>
                <a:lnTo>
                  <a:pt x="7459622" y="3701837"/>
                </a:lnTo>
                <a:lnTo>
                  <a:pt x="0" y="370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665353"/>
            <a:ext cx="8549055" cy="8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7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Điểm nổi bật của dự 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92977" y="2876964"/>
            <a:ext cx="643355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Hỗ trợ xử lý sau khi phát hiện: </a:t>
            </a: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Tạo checklist từ findings của URL Scan và Project Scan, gợi ý hướng khắc phục và xuất báo cáo HTML/JSON.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1015" y="6524731"/>
            <a:ext cx="5323633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Kiến trúc dễ mở rộng: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Tách riêng UI và engine quét, giúp hệ thống dễ bảo trì, dễ mở rộng rule, collector và scanner mới.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44854" y="4961749"/>
            <a:ext cx="1189428" cy="1189428"/>
          </a:xfrm>
          <a:custGeom>
            <a:avLst/>
            <a:gdLst/>
            <a:ahLst/>
            <a:cxnLst/>
            <a:rect r="r" b="b" t="t" l="l"/>
            <a:pathLst>
              <a:path h="1189428" w="1189428">
                <a:moveTo>
                  <a:pt x="0" y="0"/>
                </a:moveTo>
                <a:lnTo>
                  <a:pt x="1189428" y="0"/>
                </a:lnTo>
                <a:lnTo>
                  <a:pt x="1189428" y="1189427"/>
                </a:lnTo>
                <a:lnTo>
                  <a:pt x="0" y="11894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66439" y="4727861"/>
            <a:ext cx="385722" cy="385722"/>
          </a:xfrm>
          <a:custGeom>
            <a:avLst/>
            <a:gdLst/>
            <a:ahLst/>
            <a:cxnLst/>
            <a:rect r="r" b="b" t="t" l="l"/>
            <a:pathLst>
              <a:path h="385722" w="385722">
                <a:moveTo>
                  <a:pt x="0" y="0"/>
                </a:moveTo>
                <a:lnTo>
                  <a:pt x="385722" y="0"/>
                </a:lnTo>
                <a:lnTo>
                  <a:pt x="385722" y="385723"/>
                </a:lnTo>
                <a:lnTo>
                  <a:pt x="0" y="3857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8183" y="4920722"/>
            <a:ext cx="972315" cy="972315"/>
          </a:xfrm>
          <a:custGeom>
            <a:avLst/>
            <a:gdLst/>
            <a:ahLst/>
            <a:cxnLst/>
            <a:rect r="r" b="b" t="t" l="l"/>
            <a:pathLst>
              <a:path h="972315" w="972315">
                <a:moveTo>
                  <a:pt x="0" y="0"/>
                </a:moveTo>
                <a:lnTo>
                  <a:pt x="972316" y="0"/>
                </a:lnTo>
                <a:lnTo>
                  <a:pt x="972316" y="972316"/>
                </a:lnTo>
                <a:lnTo>
                  <a:pt x="0" y="9723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25322" y="4411303"/>
            <a:ext cx="385722" cy="385722"/>
          </a:xfrm>
          <a:custGeom>
            <a:avLst/>
            <a:gdLst/>
            <a:ahLst/>
            <a:cxnLst/>
            <a:rect r="r" b="b" t="t" l="l"/>
            <a:pathLst>
              <a:path h="385722" w="385722">
                <a:moveTo>
                  <a:pt x="0" y="0"/>
                </a:moveTo>
                <a:lnTo>
                  <a:pt x="385722" y="0"/>
                </a:lnTo>
                <a:lnTo>
                  <a:pt x="385722" y="385722"/>
                </a:lnTo>
                <a:lnTo>
                  <a:pt x="0" y="385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563497"/>
            <a:ext cx="8409050" cy="90732"/>
            <a:chOff x="0" y="0"/>
            <a:chExt cx="2214729" cy="23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4729" cy="23897"/>
            </a:xfrm>
            <a:custGeom>
              <a:avLst/>
              <a:gdLst/>
              <a:ahLst/>
              <a:cxnLst/>
              <a:rect r="r" b="b" t="t" l="l"/>
              <a:pathLst>
                <a:path h="23897" w="2214729">
                  <a:moveTo>
                    <a:pt x="11948" y="0"/>
                  </a:moveTo>
                  <a:lnTo>
                    <a:pt x="2202781" y="0"/>
                  </a:lnTo>
                  <a:cubicBezTo>
                    <a:pt x="2205950" y="0"/>
                    <a:pt x="2208989" y="1259"/>
                    <a:pt x="2211230" y="3500"/>
                  </a:cubicBezTo>
                  <a:cubicBezTo>
                    <a:pt x="2213470" y="5740"/>
                    <a:pt x="2214729" y="8779"/>
                    <a:pt x="2214729" y="11948"/>
                  </a:cubicBezTo>
                  <a:lnTo>
                    <a:pt x="2214729" y="11948"/>
                  </a:lnTo>
                  <a:cubicBezTo>
                    <a:pt x="2214729" y="18547"/>
                    <a:pt x="2209380" y="23897"/>
                    <a:pt x="2202781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214729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72523" y="3262770"/>
            <a:ext cx="5205465" cy="5244056"/>
            <a:chOff x="0" y="0"/>
            <a:chExt cx="1370987" cy="1381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0987" cy="1381150"/>
            </a:xfrm>
            <a:custGeom>
              <a:avLst/>
              <a:gdLst/>
              <a:ahLst/>
              <a:cxnLst/>
              <a:rect r="r" b="b" t="t" l="l"/>
              <a:pathLst>
                <a:path h="1381150" w="1370987">
                  <a:moveTo>
                    <a:pt x="44618" y="0"/>
                  </a:moveTo>
                  <a:lnTo>
                    <a:pt x="1326369" y="0"/>
                  </a:lnTo>
                  <a:cubicBezTo>
                    <a:pt x="1351011" y="0"/>
                    <a:pt x="1370987" y="19976"/>
                    <a:pt x="1370987" y="44618"/>
                  </a:cubicBezTo>
                  <a:lnTo>
                    <a:pt x="1370987" y="1336532"/>
                  </a:lnTo>
                  <a:cubicBezTo>
                    <a:pt x="1370987" y="1361174"/>
                    <a:pt x="1351011" y="1381150"/>
                    <a:pt x="1326369" y="1381150"/>
                  </a:cubicBezTo>
                  <a:lnTo>
                    <a:pt x="44618" y="1381150"/>
                  </a:lnTo>
                  <a:cubicBezTo>
                    <a:pt x="19976" y="1381150"/>
                    <a:pt x="0" y="1361174"/>
                    <a:pt x="0" y="1336532"/>
                  </a:cubicBezTo>
                  <a:lnTo>
                    <a:pt x="0" y="44618"/>
                  </a:lnTo>
                  <a:cubicBezTo>
                    <a:pt x="0" y="19976"/>
                    <a:pt x="19976" y="0"/>
                    <a:pt x="4461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70987" cy="14287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76821" y="-908651"/>
            <a:ext cx="10467869" cy="12275753"/>
          </a:xfrm>
          <a:custGeom>
            <a:avLst/>
            <a:gdLst/>
            <a:ahLst/>
            <a:cxnLst/>
            <a:rect r="r" b="b" t="t" l="l"/>
            <a:pathLst>
              <a:path h="12275753" w="10467869">
                <a:moveTo>
                  <a:pt x="0" y="0"/>
                </a:moveTo>
                <a:lnTo>
                  <a:pt x="10467869" y="0"/>
                </a:lnTo>
                <a:lnTo>
                  <a:pt x="10467869" y="12275752"/>
                </a:lnTo>
                <a:lnTo>
                  <a:pt x="0" y="12275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012" y="3260216"/>
            <a:ext cx="4943519" cy="3910202"/>
            <a:chOff x="0" y="0"/>
            <a:chExt cx="1301997" cy="10298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1997" cy="1029848"/>
            </a:xfrm>
            <a:custGeom>
              <a:avLst/>
              <a:gdLst/>
              <a:ahLst/>
              <a:cxnLst/>
              <a:rect r="r" b="b" t="t" l="l"/>
              <a:pathLst>
                <a:path h="1029848" w="1301997">
                  <a:moveTo>
                    <a:pt x="46982" y="0"/>
                  </a:moveTo>
                  <a:lnTo>
                    <a:pt x="1255015" y="0"/>
                  </a:lnTo>
                  <a:cubicBezTo>
                    <a:pt x="1267475" y="0"/>
                    <a:pt x="1279425" y="4950"/>
                    <a:pt x="1288236" y="13761"/>
                  </a:cubicBezTo>
                  <a:cubicBezTo>
                    <a:pt x="1297047" y="22572"/>
                    <a:pt x="1301997" y="34522"/>
                    <a:pt x="1301997" y="46982"/>
                  </a:cubicBezTo>
                  <a:lnTo>
                    <a:pt x="1301997" y="982865"/>
                  </a:lnTo>
                  <a:cubicBezTo>
                    <a:pt x="1301997" y="1008813"/>
                    <a:pt x="1280962" y="1029848"/>
                    <a:pt x="1255015" y="1029848"/>
                  </a:cubicBezTo>
                  <a:lnTo>
                    <a:pt x="46982" y="1029848"/>
                  </a:lnTo>
                  <a:cubicBezTo>
                    <a:pt x="21035" y="1029848"/>
                    <a:pt x="0" y="1008813"/>
                    <a:pt x="0" y="982865"/>
                  </a:cubicBezTo>
                  <a:lnTo>
                    <a:pt x="0" y="46982"/>
                  </a:lnTo>
                  <a:cubicBezTo>
                    <a:pt x="0" y="21035"/>
                    <a:pt x="21035" y="0"/>
                    <a:pt x="46982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01997" cy="1077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03504" y="3260216"/>
            <a:ext cx="4616543" cy="4808459"/>
            <a:chOff x="0" y="0"/>
            <a:chExt cx="1215880" cy="1266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5880" cy="1266426"/>
            </a:xfrm>
            <a:custGeom>
              <a:avLst/>
              <a:gdLst/>
              <a:ahLst/>
              <a:cxnLst/>
              <a:rect r="r" b="b" t="t" l="l"/>
              <a:pathLst>
                <a:path h="1266426" w="1215880">
                  <a:moveTo>
                    <a:pt x="50310" y="0"/>
                  </a:moveTo>
                  <a:lnTo>
                    <a:pt x="1165570" y="0"/>
                  </a:lnTo>
                  <a:cubicBezTo>
                    <a:pt x="1193355" y="0"/>
                    <a:pt x="1215880" y="22524"/>
                    <a:pt x="1215880" y="50310"/>
                  </a:cubicBezTo>
                  <a:lnTo>
                    <a:pt x="1215880" y="1216116"/>
                  </a:lnTo>
                  <a:cubicBezTo>
                    <a:pt x="1215880" y="1243901"/>
                    <a:pt x="1193355" y="1266426"/>
                    <a:pt x="1165570" y="1266426"/>
                  </a:cubicBezTo>
                  <a:lnTo>
                    <a:pt x="50310" y="1266426"/>
                  </a:lnTo>
                  <a:cubicBezTo>
                    <a:pt x="22524" y="1266426"/>
                    <a:pt x="0" y="1243901"/>
                    <a:pt x="0" y="1216116"/>
                  </a:cubicBezTo>
                  <a:lnTo>
                    <a:pt x="0" y="50310"/>
                  </a:lnTo>
                  <a:cubicBezTo>
                    <a:pt x="0" y="22524"/>
                    <a:pt x="22524" y="0"/>
                    <a:pt x="5031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15880" cy="1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044288" y="703659"/>
            <a:ext cx="819942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 Kịch bản thực nghiệm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5058" y="3712576"/>
            <a:ext cx="3933435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Kiểm tra khả năng quét website và mã nguồn.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Đánh giá khả năng phát hiện, phân loại và hiển thị findings.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Kiểm tra chức năng tạo  checklist và xuất báo cáo.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597773" y="2556973"/>
            <a:ext cx="2828006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Mục tiêu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8395" y="3689350"/>
            <a:ext cx="4346753" cy="304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Website mẫu đã có sẳn form, endpoint và cấu hình bảo mật chưa tối ưu.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Mã nguồn dự án mẫu có dependency, config, logging hoặc secret cần kiểm tra.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6136" y="2556973"/>
            <a:ext cx="413127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Dữ liệu thử nghiệm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25350" y="3712576"/>
            <a:ext cx="4740228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Findings hiển thị đầy đủ mức độ, nhóm OWASP, bằng chứng và khuyến nghị.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Che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klist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và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r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eport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HTML/JSON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được t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ạ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o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th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à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h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cô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g</a:t>
            </a: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Ứng dụng hoạt động ổn định trong phạm vi thử nghiệm.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833469" y="2556973"/>
            <a:ext cx="3683572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Tiêu chí đánh giá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744690" y="9258300"/>
            <a:ext cx="5066595" cy="1962154"/>
          </a:xfrm>
          <a:custGeom>
            <a:avLst/>
            <a:gdLst/>
            <a:ahLst/>
            <a:cxnLst/>
            <a:rect r="r" b="b" t="t" l="l"/>
            <a:pathLst>
              <a:path h="1962154" w="5066595">
                <a:moveTo>
                  <a:pt x="0" y="0"/>
                </a:moveTo>
                <a:lnTo>
                  <a:pt x="5066595" y="0"/>
                </a:lnTo>
                <a:lnTo>
                  <a:pt x="5066595" y="1962154"/>
                </a:lnTo>
                <a:lnTo>
                  <a:pt x="0" y="1962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0800000">
            <a:off x="-2055493" y="-1194424"/>
            <a:ext cx="6168386" cy="2388848"/>
          </a:xfrm>
          <a:custGeom>
            <a:avLst/>
            <a:gdLst/>
            <a:ahLst/>
            <a:cxnLst/>
            <a:rect r="r" b="b" t="t" l="l"/>
            <a:pathLst>
              <a:path h="2388848" w="6168386">
                <a:moveTo>
                  <a:pt x="0" y="0"/>
                </a:moveTo>
                <a:lnTo>
                  <a:pt x="6168386" y="0"/>
                </a:lnTo>
                <a:lnTo>
                  <a:pt x="6168386" y="2388848"/>
                </a:lnTo>
                <a:lnTo>
                  <a:pt x="0" y="238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48689">
            <a:off x="-2331765" y="-4628738"/>
            <a:ext cx="6720931" cy="7881688"/>
          </a:xfrm>
          <a:custGeom>
            <a:avLst/>
            <a:gdLst/>
            <a:ahLst/>
            <a:cxnLst/>
            <a:rect r="r" b="b" t="t" l="l"/>
            <a:pathLst>
              <a:path h="7881688" w="6720931">
                <a:moveTo>
                  <a:pt x="0" y="0"/>
                </a:moveTo>
                <a:lnTo>
                  <a:pt x="6720930" y="0"/>
                </a:lnTo>
                <a:lnTo>
                  <a:pt x="6720930" y="7881688"/>
                </a:lnTo>
                <a:lnTo>
                  <a:pt x="0" y="7881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769377" y="-447114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1" y="0"/>
                </a:lnTo>
                <a:lnTo>
                  <a:pt x="899291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479181" y="3325186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1" y="0"/>
                </a:lnTo>
                <a:lnTo>
                  <a:pt x="11049321" y="12957627"/>
                </a:lnTo>
                <a:lnTo>
                  <a:pt x="0" y="12957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47724" y="550742"/>
            <a:ext cx="9111576" cy="3781861"/>
          </a:xfrm>
          <a:custGeom>
            <a:avLst/>
            <a:gdLst/>
            <a:ahLst/>
            <a:cxnLst/>
            <a:rect r="r" b="b" t="t" l="l"/>
            <a:pathLst>
              <a:path h="3781861" w="9111576">
                <a:moveTo>
                  <a:pt x="0" y="0"/>
                </a:moveTo>
                <a:lnTo>
                  <a:pt x="9111576" y="0"/>
                </a:lnTo>
                <a:lnTo>
                  <a:pt x="9111576" y="3781861"/>
                </a:lnTo>
                <a:lnTo>
                  <a:pt x="0" y="3781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1066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147724" y="4911328"/>
            <a:ext cx="9111576" cy="4346972"/>
          </a:xfrm>
          <a:custGeom>
            <a:avLst/>
            <a:gdLst/>
            <a:ahLst/>
            <a:cxnLst/>
            <a:rect r="r" b="b" t="t" l="l"/>
            <a:pathLst>
              <a:path h="4346972" w="9111576">
                <a:moveTo>
                  <a:pt x="0" y="0"/>
                </a:moveTo>
                <a:lnTo>
                  <a:pt x="9111576" y="0"/>
                </a:lnTo>
                <a:lnTo>
                  <a:pt x="9111576" y="4346972"/>
                </a:lnTo>
                <a:lnTo>
                  <a:pt x="0" y="4346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0218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200150"/>
            <a:ext cx="6340862" cy="8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7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Kết quả 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đạ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t đ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ược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615074"/>
            <a:ext cx="6340862" cy="56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Phá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h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i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ện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findi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ng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s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thuộc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n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hiề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u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nhó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m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OWASP.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Hiển thị đầy đủ mức độ, nhóm OWASP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,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bằn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g chứng, vị trí và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khuyế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n nghị.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Tạo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checklist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từ findings để hỗ trợ theo dõi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x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ử lý.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X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uất báo cáo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HTML/JSON thành công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Hệ thống hoạt động ổn định trong phạm vi thử nghiệm.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35613" y="4412077"/>
            <a:ext cx="7335798" cy="3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Kết quả trả về sau khi quét mã nguồn dự án mẫu PIXEL VAULT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91037" y="9334500"/>
            <a:ext cx="7224951" cy="34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Checklist được tạo ra từ dữ liệu của URL Scan và Project Scan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3079655" y="-7724136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1" y="0"/>
                </a:lnTo>
                <a:lnTo>
                  <a:pt x="11049321" y="12957627"/>
                </a:lnTo>
                <a:lnTo>
                  <a:pt x="0" y="12957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769377" y="-447114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1" y="0"/>
                </a:lnTo>
                <a:lnTo>
                  <a:pt x="899291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9479181" y="3325186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1" y="0"/>
                </a:lnTo>
                <a:lnTo>
                  <a:pt x="11049321" y="12957627"/>
                </a:lnTo>
                <a:lnTo>
                  <a:pt x="0" y="12957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8001" y="2480536"/>
            <a:ext cx="6748752" cy="5636503"/>
          </a:xfrm>
          <a:custGeom>
            <a:avLst/>
            <a:gdLst/>
            <a:ahLst/>
            <a:cxnLst/>
            <a:rect r="r" b="b" t="t" l="l"/>
            <a:pathLst>
              <a:path h="5636503" w="6748752">
                <a:moveTo>
                  <a:pt x="0" y="0"/>
                </a:moveTo>
                <a:lnTo>
                  <a:pt x="6748752" y="0"/>
                </a:lnTo>
                <a:lnTo>
                  <a:pt x="6748752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457" t="0" r="0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61256" y="2480536"/>
            <a:ext cx="4096773" cy="5636503"/>
          </a:xfrm>
          <a:custGeom>
            <a:avLst/>
            <a:gdLst/>
            <a:ahLst/>
            <a:cxnLst/>
            <a:rect r="r" b="b" t="t" l="l"/>
            <a:pathLst>
              <a:path h="5636503" w="4096773">
                <a:moveTo>
                  <a:pt x="0" y="0"/>
                </a:moveTo>
                <a:lnTo>
                  <a:pt x="4096773" y="0"/>
                </a:lnTo>
                <a:lnTo>
                  <a:pt x="4096773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419" t="0" r="-149213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020004" y="2480536"/>
            <a:ext cx="4239296" cy="5636503"/>
          </a:xfrm>
          <a:custGeom>
            <a:avLst/>
            <a:gdLst/>
            <a:ahLst/>
            <a:cxnLst/>
            <a:rect r="r" b="b" t="t" l="l"/>
            <a:pathLst>
              <a:path h="5636503" w="4239296">
                <a:moveTo>
                  <a:pt x="0" y="0"/>
                </a:moveTo>
                <a:lnTo>
                  <a:pt x="4239296" y="0"/>
                </a:lnTo>
                <a:lnTo>
                  <a:pt x="4239296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11" t="0" r="0" b="0"/>
            </a:stretch>
          </a:blipFill>
          <a:ln w="47625" cap="sq">
            <a:solidFill>
              <a:srgbClr val="C1FF72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200150"/>
            <a:ext cx="6340862" cy="8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7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Kết quả 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đạ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t đ</a:t>
            </a: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ược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799" y="8450414"/>
            <a:ext cx="5916764" cy="6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Chi tiết mức độ, nhóm OWASP, bằng chứng, vị trí và khuyến nghị.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41955" y="8451656"/>
            <a:ext cx="4096773" cy="6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File report HTML của chức năng URL Scan.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91266" y="8451656"/>
            <a:ext cx="4096773" cy="6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1940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AI Assistant hỗ trợ phân tích giải đáp thắc mắc.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91579" y="665353"/>
            <a:ext cx="7304842" cy="89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7"/>
              </a:lnSpc>
              <a:spcBef>
                <a:spcPct val="0"/>
              </a:spcBef>
            </a:pPr>
            <a:r>
              <a:rPr lang="en-US" b="true" sz="6399" strike="noStrike" u="non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Đánh giá và hạn chế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560965" y="-981911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2" y="0"/>
                </a:lnTo>
                <a:lnTo>
                  <a:pt x="899292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24236" y="-1067062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2" y="0"/>
                </a:lnTo>
                <a:lnTo>
                  <a:pt x="899292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6212710" y="5077387"/>
            <a:ext cx="5862579" cy="132226"/>
            <a:chOff x="0" y="0"/>
            <a:chExt cx="1544054" cy="34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44054" cy="34825"/>
            </a:xfrm>
            <a:custGeom>
              <a:avLst/>
              <a:gdLst/>
              <a:ahLst/>
              <a:cxnLst/>
              <a:rect r="r" b="b" t="t" l="l"/>
              <a:pathLst>
                <a:path h="34825" w="1544054">
                  <a:moveTo>
                    <a:pt x="17412" y="0"/>
                  </a:moveTo>
                  <a:lnTo>
                    <a:pt x="1526641" y="0"/>
                  </a:lnTo>
                  <a:cubicBezTo>
                    <a:pt x="1536258" y="0"/>
                    <a:pt x="1544054" y="7796"/>
                    <a:pt x="1544054" y="17412"/>
                  </a:cubicBezTo>
                  <a:lnTo>
                    <a:pt x="1544054" y="17412"/>
                  </a:lnTo>
                  <a:cubicBezTo>
                    <a:pt x="1544054" y="27029"/>
                    <a:pt x="1536258" y="34825"/>
                    <a:pt x="1526641" y="34825"/>
                  </a:cubicBezTo>
                  <a:lnTo>
                    <a:pt x="17412" y="34825"/>
                  </a:lnTo>
                  <a:cubicBezTo>
                    <a:pt x="7796" y="34825"/>
                    <a:pt x="0" y="27029"/>
                    <a:pt x="0" y="17412"/>
                  </a:cubicBezTo>
                  <a:lnTo>
                    <a:pt x="0" y="17412"/>
                  </a:lnTo>
                  <a:cubicBezTo>
                    <a:pt x="0" y="7796"/>
                    <a:pt x="7796" y="0"/>
                    <a:pt x="17412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44054" cy="82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99379" y="2500284"/>
            <a:ext cx="207180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Đánh giá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80644" y="2500284"/>
            <a:ext cx="1744147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H</a:t>
            </a: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ạn chế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6181" y="3299011"/>
            <a:ext cx="6598202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Đáp ứng mục tiêu rà soát bảo mật ban đầu.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Kết hợp được URL Scan và Project Scan.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Findings được phân loại rõ ràng theo OWASP.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Phù hợp cho học tập, kiểm tra nội bộ và đánh giá nhanh dự án web.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3616" y="3299011"/>
            <a:ext cx="6598202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Một số findings dạng heuristic cần xác minh thủ công.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Chưa thay thế được pentest chuyên sâu.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Khả năng phát hiện phụ thuộc vào bộ rule hiện có.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Chưa phân tích đầy đủ logic nghiệp vụ của từng hệ thống.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058070" y="8911748"/>
            <a:ext cx="14150709" cy="574393"/>
            <a:chOff x="0" y="0"/>
            <a:chExt cx="2149876" cy="872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9876" cy="87266"/>
            </a:xfrm>
            <a:custGeom>
              <a:avLst/>
              <a:gdLst/>
              <a:ahLst/>
              <a:cxnLst/>
              <a:rect r="r" b="b" t="t" l="l"/>
              <a:pathLst>
                <a:path h="87266" w="2149876">
                  <a:moveTo>
                    <a:pt x="27902" y="0"/>
                  </a:moveTo>
                  <a:lnTo>
                    <a:pt x="2121973" y="0"/>
                  </a:lnTo>
                  <a:cubicBezTo>
                    <a:pt x="2129374" y="0"/>
                    <a:pt x="2136471" y="2940"/>
                    <a:pt x="2141703" y="8172"/>
                  </a:cubicBezTo>
                  <a:cubicBezTo>
                    <a:pt x="2146936" y="13405"/>
                    <a:pt x="2149876" y="20502"/>
                    <a:pt x="2149876" y="27902"/>
                  </a:cubicBezTo>
                  <a:lnTo>
                    <a:pt x="2149876" y="59364"/>
                  </a:lnTo>
                  <a:cubicBezTo>
                    <a:pt x="2149876" y="74774"/>
                    <a:pt x="2137383" y="87266"/>
                    <a:pt x="2121973" y="87266"/>
                  </a:cubicBezTo>
                  <a:lnTo>
                    <a:pt x="27902" y="87266"/>
                  </a:lnTo>
                  <a:cubicBezTo>
                    <a:pt x="12492" y="87266"/>
                    <a:pt x="0" y="74774"/>
                    <a:pt x="0" y="59364"/>
                  </a:cubicBezTo>
                  <a:lnTo>
                    <a:pt x="0" y="27902"/>
                  </a:lnTo>
                  <a:cubicBezTo>
                    <a:pt x="0" y="12492"/>
                    <a:pt x="12492" y="0"/>
                    <a:pt x="27902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49876" cy="134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13834797" y="4189347"/>
            <a:ext cx="11049322" cy="12957627"/>
          </a:xfrm>
          <a:custGeom>
            <a:avLst/>
            <a:gdLst/>
            <a:ahLst/>
            <a:cxnLst/>
            <a:rect r="r" b="b" t="t" l="l"/>
            <a:pathLst>
              <a:path h="12957627" w="11049322">
                <a:moveTo>
                  <a:pt x="0" y="0"/>
                </a:moveTo>
                <a:lnTo>
                  <a:pt x="11049321" y="0"/>
                </a:lnTo>
                <a:lnTo>
                  <a:pt x="11049321" y="12957627"/>
                </a:lnTo>
                <a:lnTo>
                  <a:pt x="0" y="12957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6808567">
            <a:off x="-3307401" y="6019246"/>
            <a:ext cx="8273999" cy="9702984"/>
          </a:xfrm>
          <a:custGeom>
            <a:avLst/>
            <a:gdLst/>
            <a:ahLst/>
            <a:cxnLst/>
            <a:rect r="r" b="b" t="t" l="l"/>
            <a:pathLst>
              <a:path h="9702984" w="8273999">
                <a:moveTo>
                  <a:pt x="0" y="0"/>
                </a:moveTo>
                <a:lnTo>
                  <a:pt x="8274000" y="0"/>
                </a:lnTo>
                <a:lnTo>
                  <a:pt x="8274000" y="9702985"/>
                </a:lnTo>
                <a:lnTo>
                  <a:pt x="0" y="9702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341629" y="8993522"/>
            <a:ext cx="134725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343434"/>
                </a:solidFill>
                <a:latin typeface="Muli Bold"/>
                <a:ea typeface="Muli Bold"/>
                <a:cs typeface="Muli Bold"/>
                <a:sym typeface="Muli Bold"/>
              </a:rPr>
              <a:t>SENTINEL phù hợp cho rà soát bảo mật ban đầu, các findings quan trọng vẫn cần xác minh thủ công.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7175934" y="1284811"/>
            <a:ext cx="15352824" cy="18004378"/>
          </a:xfrm>
          <a:custGeom>
            <a:avLst/>
            <a:gdLst/>
            <a:ahLst/>
            <a:cxnLst/>
            <a:rect r="r" b="b" t="t" l="l"/>
            <a:pathLst>
              <a:path h="18004378" w="15352824">
                <a:moveTo>
                  <a:pt x="0" y="0"/>
                </a:moveTo>
                <a:lnTo>
                  <a:pt x="15352824" y="0"/>
                </a:lnTo>
                <a:lnTo>
                  <a:pt x="15352824" y="18004378"/>
                </a:lnTo>
                <a:lnTo>
                  <a:pt x="0" y="1800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54218" y="436111"/>
            <a:ext cx="7090280" cy="9414778"/>
            <a:chOff x="0" y="0"/>
            <a:chExt cx="1527578" cy="20283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7578" cy="2028384"/>
            </a:xfrm>
            <a:custGeom>
              <a:avLst/>
              <a:gdLst/>
              <a:ahLst/>
              <a:cxnLst/>
              <a:rect r="r" b="b" t="t" l="l"/>
              <a:pathLst>
                <a:path h="2028384" w="1527578">
                  <a:moveTo>
                    <a:pt x="25114" y="0"/>
                  </a:moveTo>
                  <a:lnTo>
                    <a:pt x="1502464" y="0"/>
                  </a:lnTo>
                  <a:cubicBezTo>
                    <a:pt x="1516334" y="0"/>
                    <a:pt x="1527578" y="11244"/>
                    <a:pt x="1527578" y="25114"/>
                  </a:cubicBezTo>
                  <a:lnTo>
                    <a:pt x="1527578" y="2003270"/>
                  </a:lnTo>
                  <a:cubicBezTo>
                    <a:pt x="1527578" y="2009930"/>
                    <a:pt x="1524932" y="2016318"/>
                    <a:pt x="1520222" y="2021028"/>
                  </a:cubicBezTo>
                  <a:cubicBezTo>
                    <a:pt x="1515513" y="2025738"/>
                    <a:pt x="1509125" y="2028384"/>
                    <a:pt x="1502464" y="2028384"/>
                  </a:cubicBezTo>
                  <a:lnTo>
                    <a:pt x="25114" y="2028384"/>
                  </a:lnTo>
                  <a:cubicBezTo>
                    <a:pt x="11244" y="2028384"/>
                    <a:pt x="0" y="2017140"/>
                    <a:pt x="0" y="2003270"/>
                  </a:cubicBezTo>
                  <a:lnTo>
                    <a:pt x="0" y="25114"/>
                  </a:lnTo>
                  <a:cubicBezTo>
                    <a:pt x="0" y="11244"/>
                    <a:pt x="11244" y="0"/>
                    <a:pt x="25114" y="0"/>
                  </a:cubicBezTo>
                  <a:close/>
                </a:path>
              </a:pathLst>
            </a:custGeom>
            <a:blipFill>
              <a:blip r:embed="rId4"/>
              <a:stretch>
                <a:fillRect l="-74115" t="0" r="-25195" b="0"/>
              </a:stretch>
            </a:blipFill>
            <a:ln w="19050" cap="rnd">
              <a:solidFill>
                <a:srgbClr val="C1FF72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964500" y="436111"/>
            <a:ext cx="1379435" cy="1379435"/>
          </a:xfrm>
          <a:custGeom>
            <a:avLst/>
            <a:gdLst/>
            <a:ahLst/>
            <a:cxnLst/>
            <a:rect r="r" b="b" t="t" l="l"/>
            <a:pathLst>
              <a:path h="1379435" w="1379435">
                <a:moveTo>
                  <a:pt x="0" y="0"/>
                </a:moveTo>
                <a:lnTo>
                  <a:pt x="1379435" y="0"/>
                </a:lnTo>
                <a:lnTo>
                  <a:pt x="1379435" y="1379435"/>
                </a:lnTo>
                <a:lnTo>
                  <a:pt x="0" y="1379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43278" y="7455862"/>
            <a:ext cx="1802438" cy="1802438"/>
          </a:xfrm>
          <a:custGeom>
            <a:avLst/>
            <a:gdLst/>
            <a:ahLst/>
            <a:cxnLst/>
            <a:rect r="r" b="b" t="t" l="l"/>
            <a:pathLst>
              <a:path h="1802438" w="1802438">
                <a:moveTo>
                  <a:pt x="0" y="0"/>
                </a:moveTo>
                <a:lnTo>
                  <a:pt x="1802438" y="0"/>
                </a:lnTo>
                <a:lnTo>
                  <a:pt x="1802438" y="1802438"/>
                </a:lnTo>
                <a:lnTo>
                  <a:pt x="0" y="18024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1863632" y="-746692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2" y="0"/>
                </a:lnTo>
                <a:lnTo>
                  <a:pt x="899292" y="4021223"/>
                </a:lnTo>
                <a:lnTo>
                  <a:pt x="0" y="4021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1863632" y="152600"/>
            <a:ext cx="899292" cy="4021222"/>
          </a:xfrm>
          <a:custGeom>
            <a:avLst/>
            <a:gdLst/>
            <a:ahLst/>
            <a:cxnLst/>
            <a:rect r="r" b="b" t="t" l="l"/>
            <a:pathLst>
              <a:path h="4021222" w="899292">
                <a:moveTo>
                  <a:pt x="0" y="0"/>
                </a:moveTo>
                <a:lnTo>
                  <a:pt x="899292" y="0"/>
                </a:lnTo>
                <a:lnTo>
                  <a:pt x="899292" y="4021222"/>
                </a:lnTo>
                <a:lnTo>
                  <a:pt x="0" y="40212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2181" y="929213"/>
            <a:ext cx="6713871" cy="17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7"/>
              </a:lnSpc>
            </a:pPr>
            <a:r>
              <a:rPr lang="en-US" sz="6399" b="true">
                <a:solidFill>
                  <a:srgbClr val="C1FF72"/>
                </a:solidFill>
                <a:latin typeface="Araboto Bold"/>
                <a:ea typeface="Araboto Bold"/>
                <a:cs typeface="Araboto Bold"/>
                <a:sym typeface="Araboto Bold"/>
              </a:rPr>
              <a:t>Kết luận và hướng phát triển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877" y="2954071"/>
            <a:ext cx="772429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SENTINEL hỗ trợ rà soát bảo mật web từ đầu vào đến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báo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cáo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, giúp phát hiện rủi ro, ưu tiên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xử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lý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và</a:t>
            </a: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 phục vụ học tập, đánh giá nhanh trong phạm vi thử nghiệm.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9626294">
            <a:off x="17229118" y="6648954"/>
            <a:ext cx="833196" cy="833196"/>
          </a:xfrm>
          <a:custGeom>
            <a:avLst/>
            <a:gdLst/>
            <a:ahLst/>
            <a:cxnLst/>
            <a:rect r="r" b="b" t="t" l="l"/>
            <a:pathLst>
              <a:path h="833196" w="833196">
                <a:moveTo>
                  <a:pt x="0" y="0"/>
                </a:moveTo>
                <a:lnTo>
                  <a:pt x="833196" y="0"/>
                </a:lnTo>
                <a:lnTo>
                  <a:pt x="833196" y="833196"/>
                </a:lnTo>
                <a:lnTo>
                  <a:pt x="0" y="833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626294">
            <a:off x="8382657" y="446857"/>
            <a:ext cx="511038" cy="511038"/>
          </a:xfrm>
          <a:custGeom>
            <a:avLst/>
            <a:gdLst/>
            <a:ahLst/>
            <a:cxnLst/>
            <a:rect r="r" b="b" t="t" l="l"/>
            <a:pathLst>
              <a:path h="511038" w="511038">
                <a:moveTo>
                  <a:pt x="0" y="0"/>
                </a:moveTo>
                <a:lnTo>
                  <a:pt x="511038" y="0"/>
                </a:lnTo>
                <a:lnTo>
                  <a:pt x="511038" y="511038"/>
                </a:lnTo>
                <a:lnTo>
                  <a:pt x="0" y="5110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9626294">
            <a:off x="16968796" y="5967681"/>
            <a:ext cx="471837" cy="471837"/>
          </a:xfrm>
          <a:custGeom>
            <a:avLst/>
            <a:gdLst/>
            <a:ahLst/>
            <a:cxnLst/>
            <a:rect r="r" b="b" t="t" l="l"/>
            <a:pathLst>
              <a:path h="471837" w="471837">
                <a:moveTo>
                  <a:pt x="0" y="0"/>
                </a:moveTo>
                <a:lnTo>
                  <a:pt x="471836" y="0"/>
                </a:lnTo>
                <a:lnTo>
                  <a:pt x="471836" y="471837"/>
                </a:lnTo>
                <a:lnTo>
                  <a:pt x="0" y="47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3877" y="5141737"/>
            <a:ext cx="3627001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trike="noStrike" u="none">
                <a:solidFill>
                  <a:srgbClr val="C1FF72"/>
                </a:solidFill>
                <a:latin typeface="Muli Bold"/>
                <a:ea typeface="Muli Bold"/>
                <a:cs typeface="Muli Bold"/>
                <a:sym typeface="Muli Bold"/>
              </a:rPr>
              <a:t>Hướng phát triển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3877" y="5756106"/>
            <a:ext cx="3652153" cy="90732"/>
            <a:chOff x="0" y="0"/>
            <a:chExt cx="961884" cy="238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1884" cy="23897"/>
            </a:xfrm>
            <a:custGeom>
              <a:avLst/>
              <a:gdLst/>
              <a:ahLst/>
              <a:cxnLst/>
              <a:rect r="r" b="b" t="t" l="l"/>
              <a:pathLst>
                <a:path h="23897" w="961884">
                  <a:moveTo>
                    <a:pt x="11948" y="0"/>
                  </a:moveTo>
                  <a:lnTo>
                    <a:pt x="949936" y="0"/>
                  </a:lnTo>
                  <a:cubicBezTo>
                    <a:pt x="956534" y="0"/>
                    <a:pt x="961884" y="5349"/>
                    <a:pt x="961884" y="11948"/>
                  </a:cubicBezTo>
                  <a:lnTo>
                    <a:pt x="961884" y="11948"/>
                  </a:lnTo>
                  <a:cubicBezTo>
                    <a:pt x="961884" y="15117"/>
                    <a:pt x="960625" y="18156"/>
                    <a:pt x="958384" y="20397"/>
                  </a:cubicBezTo>
                  <a:cubicBezTo>
                    <a:pt x="956144" y="22638"/>
                    <a:pt x="953104" y="23897"/>
                    <a:pt x="949936" y="23897"/>
                  </a:cubicBezTo>
                  <a:lnTo>
                    <a:pt x="11948" y="23897"/>
                  </a:lnTo>
                  <a:cubicBezTo>
                    <a:pt x="5349" y="23897"/>
                    <a:pt x="0" y="18547"/>
                    <a:pt x="0" y="11948"/>
                  </a:cubicBezTo>
                  <a:lnTo>
                    <a:pt x="0" y="11948"/>
                  </a:lnTo>
                  <a:cubicBezTo>
                    <a:pt x="0" y="5349"/>
                    <a:pt x="5349" y="0"/>
                    <a:pt x="1194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61884" cy="71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03880" y="6323088"/>
            <a:ext cx="7724299" cy="322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Bổ sung rule cho các nhóm lỗi thường gặp dựa trên kết quả thử nghiệm thực tế.</a:t>
            </a:r>
          </a:p>
          <a:p>
            <a:pPr algn="l">
              <a:lnSpc>
                <a:spcPts val="2100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Thêm chức năng đánh dấu false positive để cải thiện việc theo dõi findings.</a:t>
            </a:r>
          </a:p>
          <a:p>
            <a:pPr algn="l">
              <a:lnSpc>
                <a:spcPts val="2800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C1FF72"/>
                </a:solidFill>
                <a:latin typeface="Muli"/>
                <a:ea typeface="Muli"/>
                <a:cs typeface="Muli"/>
                <a:sym typeface="Muli"/>
              </a:rPr>
              <a:t>Bổ sung hướng dẫn khắc phục theo từng loại finding ngay trong checklist.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3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7000" y="-1091788"/>
            <a:ext cx="10634000" cy="12470576"/>
          </a:xfrm>
          <a:custGeom>
            <a:avLst/>
            <a:gdLst/>
            <a:ahLst/>
            <a:cxnLst/>
            <a:rect r="r" b="b" t="t" l="l"/>
            <a:pathLst>
              <a:path h="12470576" w="10634000">
                <a:moveTo>
                  <a:pt x="0" y="0"/>
                </a:moveTo>
                <a:lnTo>
                  <a:pt x="10634000" y="0"/>
                </a:lnTo>
                <a:lnTo>
                  <a:pt x="10634000" y="12470576"/>
                </a:lnTo>
                <a:lnTo>
                  <a:pt x="0" y="12470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22201" y="6599144"/>
            <a:ext cx="1015921" cy="4542734"/>
          </a:xfrm>
          <a:custGeom>
            <a:avLst/>
            <a:gdLst/>
            <a:ahLst/>
            <a:cxnLst/>
            <a:rect r="r" b="b" t="t" l="l"/>
            <a:pathLst>
              <a:path h="4542734" w="1015921">
                <a:moveTo>
                  <a:pt x="0" y="0"/>
                </a:moveTo>
                <a:lnTo>
                  <a:pt x="1015921" y="0"/>
                </a:lnTo>
                <a:lnTo>
                  <a:pt x="1015921" y="4542734"/>
                </a:lnTo>
                <a:lnTo>
                  <a:pt x="0" y="454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3955" y="8870511"/>
            <a:ext cx="7315200" cy="2832977"/>
          </a:xfrm>
          <a:custGeom>
            <a:avLst/>
            <a:gdLst/>
            <a:ahLst/>
            <a:cxnLst/>
            <a:rect r="r" b="b" t="t" l="l"/>
            <a:pathLst>
              <a:path h="2832977" w="7315200">
                <a:moveTo>
                  <a:pt x="0" y="0"/>
                </a:moveTo>
                <a:lnTo>
                  <a:pt x="7315200" y="0"/>
                </a:lnTo>
                <a:lnTo>
                  <a:pt x="73152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5116" y="3258342"/>
            <a:ext cx="17517769" cy="371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3"/>
              </a:lnSpc>
            </a:pPr>
            <a:r>
              <a:rPr lang="en-US" b="true" sz="13498" spc="-823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  <a:p>
            <a:pPr algn="ctr">
              <a:lnSpc>
                <a:spcPts val="6250"/>
              </a:lnSpc>
            </a:pPr>
            <a:r>
              <a:rPr lang="en-US" b="true" sz="5000" spc="-305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XIN CHÂN THÀNH CẢM ƠN</a:t>
            </a:r>
          </a:p>
          <a:p>
            <a:pPr algn="ctr">
              <a:lnSpc>
                <a:spcPts val="6250"/>
              </a:lnSpc>
            </a:pPr>
            <a:r>
              <a:rPr lang="en-US" b="true" sz="5000" spc="-305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QUÝ THẦY/CÔ VÀ HỘI ĐỒNG ĐÃ LẮNG NGHE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9661" y="2479902"/>
            <a:ext cx="2828677" cy="602228"/>
            <a:chOff x="0" y="0"/>
            <a:chExt cx="429753" cy="91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9753" cy="91495"/>
            </a:xfrm>
            <a:custGeom>
              <a:avLst/>
              <a:gdLst/>
              <a:ahLst/>
              <a:cxnLst/>
              <a:rect r="r" b="b" t="t" l="l"/>
              <a:pathLst>
                <a:path h="91495" w="429753">
                  <a:moveTo>
                    <a:pt x="45747" y="0"/>
                  </a:moveTo>
                  <a:lnTo>
                    <a:pt x="384005" y="0"/>
                  </a:lnTo>
                  <a:cubicBezTo>
                    <a:pt x="409271" y="0"/>
                    <a:pt x="429753" y="20482"/>
                    <a:pt x="429753" y="45747"/>
                  </a:cubicBezTo>
                  <a:lnTo>
                    <a:pt x="429753" y="45747"/>
                  </a:lnTo>
                  <a:cubicBezTo>
                    <a:pt x="429753" y="57880"/>
                    <a:pt x="424933" y="69516"/>
                    <a:pt x="416354" y="78096"/>
                  </a:cubicBezTo>
                  <a:cubicBezTo>
                    <a:pt x="407774" y="86675"/>
                    <a:pt x="396138" y="91495"/>
                    <a:pt x="384005" y="91495"/>
                  </a:cubicBezTo>
                  <a:lnTo>
                    <a:pt x="45747" y="91495"/>
                  </a:lnTo>
                  <a:cubicBezTo>
                    <a:pt x="33614" y="91495"/>
                    <a:pt x="21978" y="86675"/>
                    <a:pt x="13399" y="78096"/>
                  </a:cubicBezTo>
                  <a:cubicBezTo>
                    <a:pt x="4820" y="69516"/>
                    <a:pt x="0" y="57880"/>
                    <a:pt x="0" y="45747"/>
                  </a:cubicBezTo>
                  <a:lnTo>
                    <a:pt x="0" y="45747"/>
                  </a:lnTo>
                  <a:cubicBezTo>
                    <a:pt x="0" y="33614"/>
                    <a:pt x="4820" y="21978"/>
                    <a:pt x="13399" y="13399"/>
                  </a:cubicBezTo>
                  <a:cubicBezTo>
                    <a:pt x="21978" y="4820"/>
                    <a:pt x="33614" y="0"/>
                    <a:pt x="45747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9753" cy="139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980956" y="2555591"/>
            <a:ext cx="232608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107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NHÓM 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0396" y="209715"/>
            <a:ext cx="3298604" cy="303224"/>
            <a:chOff x="0" y="0"/>
            <a:chExt cx="868768" cy="798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0396" y="660363"/>
            <a:ext cx="3298604" cy="303224"/>
            <a:chOff x="0" y="0"/>
            <a:chExt cx="868768" cy="79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10396" y="1113042"/>
            <a:ext cx="3298604" cy="303224"/>
            <a:chOff x="0" y="0"/>
            <a:chExt cx="868768" cy="798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0396" y="1565721"/>
            <a:ext cx="3298604" cy="303224"/>
            <a:chOff x="0" y="0"/>
            <a:chExt cx="868768" cy="79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8768" cy="79862"/>
            </a:xfrm>
            <a:custGeom>
              <a:avLst/>
              <a:gdLst/>
              <a:ahLst/>
              <a:cxnLst/>
              <a:rect r="r" b="b" t="t" l="l"/>
              <a:pathLst>
                <a:path h="79862" w="868768">
                  <a:moveTo>
                    <a:pt x="39931" y="0"/>
                  </a:moveTo>
                  <a:lnTo>
                    <a:pt x="828837" y="0"/>
                  </a:lnTo>
                  <a:cubicBezTo>
                    <a:pt x="839428" y="0"/>
                    <a:pt x="849584" y="4207"/>
                    <a:pt x="857073" y="11695"/>
                  </a:cubicBezTo>
                  <a:cubicBezTo>
                    <a:pt x="864561" y="19184"/>
                    <a:pt x="868768" y="29340"/>
                    <a:pt x="868768" y="39931"/>
                  </a:cubicBezTo>
                  <a:lnTo>
                    <a:pt x="868768" y="39931"/>
                  </a:lnTo>
                  <a:cubicBezTo>
                    <a:pt x="868768" y="50521"/>
                    <a:pt x="864561" y="60678"/>
                    <a:pt x="857073" y="68166"/>
                  </a:cubicBezTo>
                  <a:cubicBezTo>
                    <a:pt x="849584" y="75655"/>
                    <a:pt x="839428" y="79862"/>
                    <a:pt x="828837" y="79862"/>
                  </a:cubicBezTo>
                  <a:lnTo>
                    <a:pt x="39931" y="79862"/>
                  </a:lnTo>
                  <a:cubicBezTo>
                    <a:pt x="29340" y="79862"/>
                    <a:pt x="19184" y="75655"/>
                    <a:pt x="11695" y="68166"/>
                  </a:cubicBezTo>
                  <a:cubicBezTo>
                    <a:pt x="4207" y="60678"/>
                    <a:pt x="0" y="50521"/>
                    <a:pt x="0" y="39931"/>
                  </a:cubicBezTo>
                  <a:lnTo>
                    <a:pt x="0" y="39931"/>
                  </a:lnTo>
                  <a:cubicBezTo>
                    <a:pt x="0" y="29340"/>
                    <a:pt x="4207" y="19184"/>
                    <a:pt x="11695" y="11695"/>
                  </a:cubicBezTo>
                  <a:cubicBezTo>
                    <a:pt x="19184" y="4207"/>
                    <a:pt x="29340" y="0"/>
                    <a:pt x="399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68768" cy="12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63103" y="16369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Nguyễn An Khang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3103" y="611393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Phạm Dương Đình Huy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3103" y="106828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Lê Phương Nam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3103" y="1512780"/>
            <a:ext cx="27994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Bùi Trọng Thức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163798" y="520740"/>
            <a:ext cx="4280265" cy="347394"/>
            <a:chOff x="0" y="0"/>
            <a:chExt cx="1127313" cy="914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7313" cy="91495"/>
            </a:xfrm>
            <a:custGeom>
              <a:avLst/>
              <a:gdLst/>
              <a:ahLst/>
              <a:cxnLst/>
              <a:rect r="r" b="b" t="t" l="l"/>
              <a:pathLst>
                <a:path h="91495" w="1127313">
                  <a:moveTo>
                    <a:pt x="45747" y="0"/>
                  </a:moveTo>
                  <a:lnTo>
                    <a:pt x="1081565" y="0"/>
                  </a:lnTo>
                  <a:cubicBezTo>
                    <a:pt x="1093698" y="0"/>
                    <a:pt x="1105334" y="4820"/>
                    <a:pt x="1113914" y="13399"/>
                  </a:cubicBezTo>
                  <a:cubicBezTo>
                    <a:pt x="1122493" y="21978"/>
                    <a:pt x="1127313" y="33614"/>
                    <a:pt x="1127313" y="45747"/>
                  </a:cubicBezTo>
                  <a:lnTo>
                    <a:pt x="1127313" y="45747"/>
                  </a:lnTo>
                  <a:cubicBezTo>
                    <a:pt x="1127313" y="57880"/>
                    <a:pt x="1122493" y="69516"/>
                    <a:pt x="1113914" y="78096"/>
                  </a:cubicBezTo>
                  <a:cubicBezTo>
                    <a:pt x="1105334" y="86675"/>
                    <a:pt x="1093698" y="91495"/>
                    <a:pt x="1081565" y="91495"/>
                  </a:cubicBezTo>
                  <a:lnTo>
                    <a:pt x="45747" y="91495"/>
                  </a:lnTo>
                  <a:cubicBezTo>
                    <a:pt x="33614" y="91495"/>
                    <a:pt x="21978" y="86675"/>
                    <a:pt x="13399" y="78096"/>
                  </a:cubicBezTo>
                  <a:cubicBezTo>
                    <a:pt x="4820" y="69516"/>
                    <a:pt x="0" y="57880"/>
                    <a:pt x="0" y="45747"/>
                  </a:cubicBezTo>
                  <a:lnTo>
                    <a:pt x="0" y="45747"/>
                  </a:lnTo>
                  <a:cubicBezTo>
                    <a:pt x="0" y="33614"/>
                    <a:pt x="4820" y="21978"/>
                    <a:pt x="13399" y="13399"/>
                  </a:cubicBezTo>
                  <a:cubicBezTo>
                    <a:pt x="21978" y="4820"/>
                    <a:pt x="33614" y="0"/>
                    <a:pt x="45747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27313" cy="139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356848" y="553343"/>
            <a:ext cx="1182410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96"/>
              </a:lnSpc>
              <a:spcBef>
                <a:spcPct val="0"/>
              </a:spcBef>
            </a:pPr>
            <a:r>
              <a:rPr lang="en-US" b="true" sz="1640" spc="-70" strike="noStrike" u="none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Đồ Án Cơ Sở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668948" y="659018"/>
            <a:ext cx="68692" cy="6869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867331" y="553343"/>
            <a:ext cx="1312426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b="true" sz="1640" spc="-7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An Ninh Mạng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82275" y="553343"/>
            <a:ext cx="1182410" cy="263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b="true" sz="1640" spc="-7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2026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313107" y="659018"/>
            <a:ext cx="68692" cy="6869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6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DAHLZCKeBeQ</dc:identifier>
  <dcterms:modified xsi:type="dcterms:W3CDTF">2011-08-01T06:04:30Z</dcterms:modified>
  <cp:revision>1</cp:revision>
  <dc:title>PHÁT TRIỂN HỆ THỐNG KIỂM THỬ LỖ HỔNG BẢO MẬT WEB TỰ ĐỘNG THEO OWASP TOP 10</dc:title>
</cp:coreProperties>
</file>